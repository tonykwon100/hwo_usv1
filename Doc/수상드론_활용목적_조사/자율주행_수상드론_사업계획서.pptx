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USV</c:v>
                </c:pt>
              </c:strCache>
            </c:strRef>
          </c:tx>
          <c:spPr>
            <a:solidFill>
              <a:srgbClr val="065A82"/>
            </a:solidFill>
            <a:ln w="38160">
              <a:solidFill>
                <a:srgbClr val="065A82"/>
              </a:solidFill>
              <a:round/>
            </a:ln>
          </c:spPr>
          <c:marker>
            <c:symbol val="circle"/>
            <c:size val="6"/>
            <c:spPr>
              <a:solidFill>
                <a:srgbClr val="065A82"/>
              </a:solidFill>
            </c:spPr>
          </c:marker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2025</c:v>
                </c:pt>
                <c:pt idx="1">
                  <c:v>2027</c:v>
                </c:pt>
                <c:pt idx="2">
                  <c:v>2028</c:v>
                </c:pt>
                <c:pt idx="3">
                  <c:v>2030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10.8</c:v>
                </c:pt>
                <c:pt idx="2">
                  <c:v>12.2</c:v>
                </c:pt>
                <c:pt idx="3">
                  <c:v>15.9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2094682"/>
        <c:axId val="31250403"/>
      </c:lineChart>
      <c:catAx>
        <c:axId val="209468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31250403"/>
        <c:crosses val="autoZero"/>
        <c:auto val="1"/>
        <c:lblAlgn val="ctr"/>
        <c:lblOffset val="100"/>
        <c:noMultiLvlLbl val="0"/>
      </c:catAx>
      <c:valAx>
        <c:axId val="31250403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209468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1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11</c:v>
                </c:pt>
                <c:pt idx="1">
                  <c:v>67</c:v>
                </c:pt>
                <c:pt idx="2">
                  <c:v>159</c:v>
                </c:pt>
                <c:pt idx="3">
                  <c:v>250</c:v>
                </c:pt>
                <c:pt idx="4">
                  <c:v>380</c:v>
                </c:pt>
              </c:numCache>
            </c:numRef>
          </c:val>
        </c:ser>
        <c:gapWidth val="150"/>
        <c:overlap val="0"/>
        <c:axId val="38477501"/>
        <c:axId val="36691431"/>
      </c:barChart>
      <c:catAx>
        <c:axId val="384775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36691431"/>
        <c:crosses val="autoZero"/>
        <c:auto val="1"/>
        <c:lblAlgn val="ctr"/>
        <c:lblOffset val="100"/>
        <c:noMultiLvlLbl val="0"/>
      </c:catAx>
      <c:valAx>
        <c:axId val="36691431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3847750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3F996A29-0F63-435B-ADDE-6E43173DE23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AFA2A-F674-4EA7-83E3-840D264934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4E0A9E-458F-4EF3-B880-8B58D07CAE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1579CF-45FC-4D0C-8058-BEEF7A6216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353527-9289-44D9-832E-7B80BF4518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7083C-A016-4142-BF13-B5A9003D4B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13C791-4026-4071-867E-88606214E9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BD302-F72C-485D-A756-F05EABEFA7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829E78-CED2-4C38-97CC-B2D335F20A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16DAB6-C7C5-4BCA-B9B6-772222240D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E70755-9D12-410D-9841-B4BF3FD156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6CED2F-E276-40B6-A926-3559FAF08F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BA7943-55BF-4E9E-A1C1-5598CD9F1D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0E910F-6B6D-4BF5-A080-A2374F8244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3885E0-4C61-4405-8FDB-F00F1FD443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1B6439-4291-487B-8A57-34998EBF48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BDEF42-9B80-47CE-B9E5-44B12E3CFF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929E8A-9709-499B-B5A6-83BE823823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5394960"/>
            <a:ext cx="12188520" cy="1462680"/>
          </a:xfrm>
          <a:prstGeom prst="rect">
            <a:avLst/>
          </a:prstGeom>
          <a:solidFill>
            <a:srgbClr val="065A82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5943600"/>
            <a:ext cx="12188520" cy="914040"/>
          </a:xfrm>
          <a:prstGeom prst="rect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31520" y="13258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4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BUSINESS PLAN · </a:t>
            </a:r>
            <a:r>
              <a:rPr lang="ko-KR" sz="1400" b="1" u="none" spc="4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기술 로드맵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31520" y="182880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5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자율주행 수상 드론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2834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4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청소 </a:t>
            </a:r>
            <a:r>
              <a:rPr lang="en-US" sz="34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· </a:t>
            </a:r>
            <a:r>
              <a:rPr lang="ko-KR" sz="34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모니터링 통합 플랫폼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77240" y="374904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ko-KR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실내 수조부터 연근해까지 — 자율 항법 기반 수면 청소와 수질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환경 모니터링을 하나의 선체에서 수행하는 무인 수상 드론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(USV)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77240" y="598932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BlueBoat + ArduRover(ArduPilot)  </a:t>
            </a: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  RTK-GPS + Lidar + Camera </a:t>
            </a:r>
            <a:r>
              <a:rPr lang="ko-KR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융합 측위  </a:t>
            </a: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  BlueOS · MAVLink  ·  Raspberry Pi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01 · </a:t>
            </a:r>
            <a:r>
              <a:rPr lang="ko-KR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수상드론 소개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수상드론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(USV)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이란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1389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Text 3"/>
          <p:cNvSpPr/>
          <p:nvPr/>
        </p:nvSpPr>
        <p:spPr>
          <a:xfrm>
            <a:off x="868680" y="1389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무인 수상 드론</a:t>
            </a:r>
            <a:r>
              <a:rPr lang="en-US" sz="140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(USV, Unmanned Surface Vehicle)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은 바다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강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호수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수조 등 </a:t>
            </a:r>
            <a:r>
              <a:rPr lang="en-US" sz="140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ko-KR" sz="140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수면</a:t>
            </a:r>
            <a:r>
              <a:rPr lang="en-US" sz="140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»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에서 사람 탑승 없이 자율 또는 원격으로 임무를 수행하는 무인 선박이다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548640" y="2395800"/>
            <a:ext cx="4800240" cy="3062880"/>
          </a:xfrm>
          <a:prstGeom prst="roundRect">
            <a:avLst>
              <a:gd name="adj" fmla="val 3582"/>
            </a:avLst>
          </a:prstGeom>
          <a:solidFill>
            <a:srgbClr val="EAF6F6"/>
          </a:solidFill>
          <a:ln w="12700">
            <a:solidFill>
              <a:srgbClr val="CFE9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" name="Text 5"/>
          <p:cNvSpPr/>
          <p:nvPr/>
        </p:nvSpPr>
        <p:spPr>
          <a:xfrm>
            <a:off x="548640" y="513900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카타마란형 무인 수상 드론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5669280" y="2450520"/>
            <a:ext cx="5943240" cy="658080"/>
          </a:xfrm>
          <a:prstGeom prst="roundRect">
            <a:avLst>
              <a:gd name="adj" fmla="val 11111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5852160" y="255132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25" name="Image 1" descr="preencoded.png"/>
          <p:cNvPicPr/>
          <p:nvPr/>
        </p:nvPicPr>
        <p:blipFill>
          <a:blip r:embed="rId1"/>
          <a:stretch/>
        </p:blipFill>
        <p:spPr>
          <a:xfrm>
            <a:off x="5961960" y="26607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8"/>
          <p:cNvSpPr/>
          <p:nvPr/>
        </p:nvSpPr>
        <p:spPr>
          <a:xfrm>
            <a:off x="6446520" y="249624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자율</a:t>
            </a:r>
            <a:r>
              <a:rPr lang="en-US" sz="14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4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원격 운항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Text 9"/>
          <p:cNvSpPr/>
          <p:nvPr/>
        </p:nvSpPr>
        <p:spPr>
          <a:xfrm>
            <a:off x="8412480" y="249624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GPS·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라이다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카메라 기반 자율 항법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원거리 원격제어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5669280" y="3209400"/>
            <a:ext cx="5943240" cy="658080"/>
          </a:xfrm>
          <a:prstGeom prst="roundRect">
            <a:avLst>
              <a:gd name="adj" fmla="val 11111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5852160" y="331020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0" name="Image 2" descr="preencoded.png"/>
          <p:cNvPicPr/>
          <p:nvPr/>
        </p:nvPicPr>
        <p:blipFill>
          <a:blip r:embed="rId2"/>
          <a:stretch/>
        </p:blipFill>
        <p:spPr>
          <a:xfrm>
            <a:off x="5961960" y="342000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12"/>
          <p:cNvSpPr/>
          <p:nvPr/>
        </p:nvSpPr>
        <p:spPr>
          <a:xfrm>
            <a:off x="6446520" y="325512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모듈형 페이로드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8412480" y="325512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청소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수질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측량 등 임무 장비를 교체 장착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5669280" y="3968640"/>
            <a:ext cx="5943240" cy="658080"/>
          </a:xfrm>
          <a:prstGeom prst="roundRect">
            <a:avLst>
              <a:gd name="adj" fmla="val 11111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5852160" y="40690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5" name="Image 3" descr="preencoded.png"/>
          <p:cNvPicPr/>
          <p:nvPr/>
        </p:nvPicPr>
        <p:blipFill>
          <a:blip r:embed="rId3"/>
          <a:stretch/>
        </p:blipFill>
        <p:spPr>
          <a:xfrm>
            <a:off x="5961960" y="41788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6"/>
          <p:cNvSpPr/>
          <p:nvPr/>
        </p:nvSpPr>
        <p:spPr>
          <a:xfrm>
            <a:off x="6446520" y="401436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저비용</a:t>
            </a:r>
            <a:r>
              <a:rPr lang="en-US" sz="14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4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친환경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8412480" y="401436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전동 추진 — 유인선 대비 운영비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탄소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위험 절감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5669280" y="4727520"/>
            <a:ext cx="5943240" cy="658080"/>
          </a:xfrm>
          <a:prstGeom prst="roundRect">
            <a:avLst>
              <a:gd name="adj" fmla="val 11111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5852160" y="482796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40" name="Image 4" descr="preencoded.png"/>
          <p:cNvPicPr/>
          <p:nvPr/>
        </p:nvPicPr>
        <p:blipFill>
          <a:blip r:embed="rId4"/>
          <a:stretch/>
        </p:blipFill>
        <p:spPr>
          <a:xfrm>
            <a:off x="5961960" y="49377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20"/>
          <p:cNvSpPr/>
          <p:nvPr/>
        </p:nvSpPr>
        <p:spPr>
          <a:xfrm>
            <a:off x="6446520" y="477324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위험작업 대체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8412480" y="477324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사람이 접근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수행하기 어려운 수상 작업의 무인화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548640" y="5779080"/>
            <a:ext cx="2651400" cy="456840"/>
          </a:xfrm>
          <a:prstGeom prst="roundRect">
            <a:avLst>
              <a:gd name="adj" fmla="val 14000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44" name="Image 5" descr="preencoded.png"/>
          <p:cNvPicPr/>
          <p:nvPr/>
        </p:nvPicPr>
        <p:blipFill>
          <a:blip r:embed="rId5"/>
          <a:stretch/>
        </p:blipFill>
        <p:spPr>
          <a:xfrm>
            <a:off x="932760" y="58978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3"/>
          <p:cNvSpPr/>
          <p:nvPr/>
        </p:nvSpPr>
        <p:spPr>
          <a:xfrm>
            <a:off x="1234440" y="57790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청소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수거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Shape 24"/>
          <p:cNvSpPr/>
          <p:nvPr/>
        </p:nvSpPr>
        <p:spPr>
          <a:xfrm>
            <a:off x="3346560" y="5779080"/>
            <a:ext cx="2651400" cy="456840"/>
          </a:xfrm>
          <a:prstGeom prst="roundRect">
            <a:avLst>
              <a:gd name="adj" fmla="val 14000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47" name="Image 6" descr="preencoded.png"/>
          <p:cNvPicPr/>
          <p:nvPr/>
        </p:nvPicPr>
        <p:blipFill>
          <a:blip r:embed="rId6"/>
          <a:stretch/>
        </p:blipFill>
        <p:spPr>
          <a:xfrm>
            <a:off x="3730680" y="58978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25"/>
          <p:cNvSpPr/>
          <p:nvPr/>
        </p:nvSpPr>
        <p:spPr>
          <a:xfrm>
            <a:off x="4032360" y="57790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수질 모니터링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Shape 26"/>
          <p:cNvSpPr/>
          <p:nvPr/>
        </p:nvSpPr>
        <p:spPr>
          <a:xfrm>
            <a:off x="6144840" y="5779080"/>
            <a:ext cx="2651400" cy="456840"/>
          </a:xfrm>
          <a:prstGeom prst="roundRect">
            <a:avLst>
              <a:gd name="adj" fmla="val 14000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50" name="Image 7" descr="preencoded.png"/>
          <p:cNvPicPr/>
          <p:nvPr/>
        </p:nvPicPr>
        <p:blipFill>
          <a:blip r:embed="rId7"/>
          <a:stretch/>
        </p:blipFill>
        <p:spPr>
          <a:xfrm>
            <a:off x="6528960" y="58978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27"/>
          <p:cNvSpPr/>
          <p:nvPr/>
        </p:nvSpPr>
        <p:spPr>
          <a:xfrm>
            <a:off x="6830640" y="57790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측량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조사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Shape 28"/>
          <p:cNvSpPr/>
          <p:nvPr/>
        </p:nvSpPr>
        <p:spPr>
          <a:xfrm>
            <a:off x="8942760" y="5779080"/>
            <a:ext cx="2651400" cy="456840"/>
          </a:xfrm>
          <a:prstGeom prst="roundRect">
            <a:avLst>
              <a:gd name="adj" fmla="val 14000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53" name="Image 8" descr="preencoded.png"/>
          <p:cNvPicPr/>
          <p:nvPr/>
        </p:nvPicPr>
        <p:blipFill>
          <a:blip r:embed="rId8"/>
          <a:stretch/>
        </p:blipFill>
        <p:spPr>
          <a:xfrm>
            <a:off x="9326880" y="58978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29"/>
          <p:cNvSpPr/>
          <p:nvPr/>
        </p:nvSpPr>
        <p:spPr>
          <a:xfrm>
            <a:off x="9628560" y="57790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감시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순찰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57" name="Picture 2"/>
          <p:cNvPicPr/>
          <p:nvPr/>
        </p:nvPicPr>
        <p:blipFill>
          <a:blip r:embed="rId9"/>
          <a:stretch/>
        </p:blipFill>
        <p:spPr>
          <a:xfrm>
            <a:off x="977400" y="2549520"/>
            <a:ext cx="3882600" cy="258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02 · </a:t>
            </a:r>
            <a:r>
              <a:rPr lang="ko-KR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개발 배경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왜 자율주행 수상 드론인가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Text 2"/>
          <p:cNvSpPr/>
          <p:nvPr/>
        </p:nvSpPr>
        <p:spPr>
          <a:xfrm>
            <a:off x="548640" y="1417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수면 오염 관리와 수질 모니터링은 여전히 사람이 배를 타고 수행하는 노동집약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고위험 작업이다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실내 수조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양식장부터 항만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연근해까지 자율화 수요는 크지만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두 기능이 분리된 장비만 존재한다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548640" y="2286000"/>
            <a:ext cx="2605680" cy="3565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804600" y="257868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958320" y="2732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5"/>
          <p:cNvSpPr/>
          <p:nvPr/>
        </p:nvSpPr>
        <p:spPr>
          <a:xfrm>
            <a:off x="777240" y="33832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수작업의 한계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Text 6"/>
          <p:cNvSpPr/>
          <p:nvPr/>
        </p:nvSpPr>
        <p:spPr>
          <a:xfrm>
            <a:off x="777240" y="3886200"/>
            <a:ext cx="22125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사람이 직접 뜰채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보트로 수거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채수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접근이 어렵고 위험하며 커버리지가 낮다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3346560" y="2286000"/>
            <a:ext cx="2605680" cy="3565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3602880" y="257868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2"/>
          <a:stretch/>
        </p:blipFill>
        <p:spPr>
          <a:xfrm>
            <a:off x="3756240" y="2732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9"/>
          <p:cNvSpPr/>
          <p:nvPr/>
        </p:nvSpPr>
        <p:spPr>
          <a:xfrm>
            <a:off x="3575160" y="33832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부유물</a:t>
            </a:r>
            <a:r>
              <a:rPr lang="en-US" sz="17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7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조류 증가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3575160" y="3886200"/>
            <a:ext cx="22125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부영양화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해양 쓰레기로 수면 오염 상시화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정기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반복 청소 수요 급증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6144840" y="2286000"/>
            <a:ext cx="2605680" cy="3565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6400800" y="257868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73" name="Image 2" descr="preencoded.png"/>
          <p:cNvPicPr/>
          <p:nvPr/>
        </p:nvPicPr>
        <p:blipFill>
          <a:blip r:embed="rId3"/>
          <a:stretch/>
        </p:blipFill>
        <p:spPr>
          <a:xfrm>
            <a:off x="6554520" y="2732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13"/>
          <p:cNvSpPr/>
          <p:nvPr/>
        </p:nvSpPr>
        <p:spPr>
          <a:xfrm>
            <a:off x="6373440" y="33832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모니터링 공백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6373440" y="3886200"/>
            <a:ext cx="22125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수질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(pH·DO·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탁도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데이터가 점 단위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저빈도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면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面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단위 실시간 지도 부재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8942760" y="2286000"/>
            <a:ext cx="2605680" cy="3565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9198720" y="257868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78" name="Image 3" descr="preencoded.png"/>
          <p:cNvPicPr/>
          <p:nvPr/>
        </p:nvPicPr>
        <p:blipFill>
          <a:blip r:embed="rId4"/>
          <a:stretch/>
        </p:blipFill>
        <p:spPr>
          <a:xfrm>
            <a:off x="9352440" y="2732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17"/>
          <p:cNvSpPr/>
          <p:nvPr/>
        </p:nvSpPr>
        <p:spPr>
          <a:xfrm>
            <a:off x="9171360" y="33832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장비 이원화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9171360" y="3886200"/>
            <a:ext cx="22125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청소 로봇과 조사용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USV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가 별개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중복 투자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운영비 부담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548640" y="5989320"/>
            <a:ext cx="11063880" cy="456840"/>
          </a:xfrm>
          <a:prstGeom prst="rect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핵심 가설  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하나의 자율 선체로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청소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»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와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모니터링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»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을 동시 수행하면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장비 이원화를 없애고 데이터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행동 루프를 닫을 수 있다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03 · </a:t>
            </a:r>
            <a:r>
              <a:rPr lang="ko-KR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제품 개요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하나의 선체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, 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두 개의 임무 — 모듈형 통합 플랫폼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Text 2"/>
          <p:cNvSpPr/>
          <p:nvPr/>
        </p:nvSpPr>
        <p:spPr>
          <a:xfrm>
            <a:off x="548640" y="1417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공통 자율주행 플랫폼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선체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측위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제어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위에 임무 페이로드를 교체 장착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청소 모드와 모니터링 모드를 소프트웨어로 전환한다</a:t>
            </a: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548640" y="2148840"/>
            <a:ext cx="11063880" cy="1234080"/>
          </a:xfrm>
          <a:prstGeom prst="roundRect">
            <a:avLst>
              <a:gd name="adj" fmla="val 7407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868680" y="2450520"/>
            <a:ext cx="658080" cy="65808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89" name="Image 0" descr="preencoded.png"/>
          <p:cNvPicPr/>
          <p:nvPr/>
        </p:nvPicPr>
        <p:blipFill>
          <a:blip r:embed="rId1"/>
          <a:stretch/>
        </p:blipFill>
        <p:spPr>
          <a:xfrm>
            <a:off x="1026720" y="26085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5"/>
          <p:cNvSpPr/>
          <p:nvPr/>
        </p:nvSpPr>
        <p:spPr>
          <a:xfrm>
            <a:off x="1691640" y="233172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공통 자율주행 플랫폼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(Common Platform)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Text 6"/>
          <p:cNvSpPr/>
          <p:nvPr/>
        </p:nvSpPr>
        <p:spPr>
          <a:xfrm>
            <a:off x="1691640" y="2761560"/>
            <a:ext cx="9692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BlueBoat weedless 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카타마란 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 ArduRover(ArduPilot) + BlueOS · Raspberry Pi 4 · RTK-GPS + Lidar + Camera + IMU 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융합 측위 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 MAVLink · GCS(QGC)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548640" y="3611880"/>
            <a:ext cx="5348880" cy="2605680"/>
          </a:xfrm>
          <a:prstGeom prst="roundRect">
            <a:avLst>
              <a:gd name="adj" fmla="val 350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822960" y="385884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94" name="Image 1" descr="preencoded.png"/>
          <p:cNvPicPr/>
          <p:nvPr/>
        </p:nvPicPr>
        <p:blipFill>
          <a:blip r:embed="rId2"/>
          <a:stretch/>
        </p:blipFill>
        <p:spPr>
          <a:xfrm>
            <a:off x="976680" y="401256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9"/>
          <p:cNvSpPr/>
          <p:nvPr/>
        </p:nvSpPr>
        <p:spPr>
          <a:xfrm>
            <a:off x="1600200" y="38772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CLEAN </a:t>
            </a:r>
            <a:r>
              <a:rPr lang="ko-KR" sz="19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모드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1600200" y="42429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수면 청소 페이로드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868680" y="4709160"/>
            <a:ext cx="48002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177840" indent="-177840" defTabSz="914400">
              <a:lnSpc>
                <a:spcPts val="1599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카메라 객체탐지로 쓰레기 위치 인식 → 접근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전방 스키머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그물 견인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수거함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만재 시 자동 복귀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경계 내 커버리지 경로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(Boustrophedon)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자율 주행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6263640" y="3611880"/>
            <a:ext cx="5348880" cy="2605680"/>
          </a:xfrm>
          <a:prstGeom prst="roundRect">
            <a:avLst>
              <a:gd name="adj" fmla="val 350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6537960" y="3858840"/>
            <a:ext cx="639720" cy="639720"/>
          </a:xfrm>
          <a:prstGeom prst="ellipse">
            <a:avLst/>
          </a:prstGeom>
          <a:solidFill>
            <a:srgbClr val="27A2A6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00" name="Image 2" descr="preencoded.png"/>
          <p:cNvPicPr/>
          <p:nvPr/>
        </p:nvPicPr>
        <p:blipFill>
          <a:blip r:embed="rId3"/>
          <a:stretch/>
        </p:blipFill>
        <p:spPr>
          <a:xfrm>
            <a:off x="6691680" y="401256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14"/>
          <p:cNvSpPr/>
          <p:nvPr/>
        </p:nvSpPr>
        <p:spPr>
          <a:xfrm>
            <a:off x="7315200" y="38772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MONITOR </a:t>
            </a:r>
            <a:r>
              <a:rPr lang="ko-KR" sz="19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모드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7315200" y="42429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i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환경 모니터링 페이로드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6583680" y="4709160"/>
            <a:ext cx="48002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177840" indent="-177840" defTabSz="914400">
              <a:lnSpc>
                <a:spcPts val="1599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수질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Sonde(pH·DO·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탁도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수온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염도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채집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카메라 기반 오염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이상 상황 인지 및 태깅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RTK-GPS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좌표별 면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面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단위 수질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오염 지도 생성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04 · </a:t>
            </a:r>
            <a:r>
              <a:rPr lang="ko-KR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시스템 아키텍처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측위 → 판단 → 제어 자율 파이프라인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548640" y="1600200"/>
            <a:ext cx="2605680" cy="28800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1527120" y="1874520"/>
            <a:ext cx="658080" cy="65808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10" name="Image 0" descr="preencoded.png"/>
          <p:cNvPicPr/>
          <p:nvPr/>
        </p:nvPicPr>
        <p:blipFill>
          <a:blip r:embed="rId1"/>
          <a:stretch/>
        </p:blipFill>
        <p:spPr>
          <a:xfrm>
            <a:off x="1685160" y="20325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4"/>
          <p:cNvSpPr/>
          <p:nvPr/>
        </p:nvSpPr>
        <p:spPr>
          <a:xfrm>
            <a:off x="640080" y="26701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SENSE </a:t>
            </a: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인지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749880" y="3127320"/>
            <a:ext cx="21942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RTK-GPS · 2D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라이다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카메라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객체탐지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 · IMU · Ping Sonar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3127320" y="28346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3346560" y="1600200"/>
            <a:ext cx="2605680" cy="28800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4325040" y="1874520"/>
            <a:ext cx="658080" cy="65808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16" name="Image 1" descr="preencoded.png"/>
          <p:cNvPicPr/>
          <p:nvPr/>
        </p:nvPicPr>
        <p:blipFill>
          <a:blip r:embed="rId2"/>
          <a:stretch/>
        </p:blipFill>
        <p:spPr>
          <a:xfrm>
            <a:off x="4483080" y="20325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9"/>
          <p:cNvSpPr/>
          <p:nvPr/>
        </p:nvSpPr>
        <p:spPr>
          <a:xfrm>
            <a:off x="3438000" y="26701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LOCALIZE </a:t>
            </a: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측위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3547800" y="3127320"/>
            <a:ext cx="21942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실외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RTK-GPS(cm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급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 +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실내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AprilTag/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라이다 정합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 IMU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융합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(EKF)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5925240" y="28346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6144840" y="1600200"/>
            <a:ext cx="2605680" cy="28800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7123320" y="1874520"/>
            <a:ext cx="658080" cy="658080"/>
          </a:xfrm>
          <a:prstGeom prst="ellipse">
            <a:avLst/>
          </a:prstGeom>
          <a:solidFill>
            <a:srgbClr val="27A2A6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22" name="Image 2" descr="preencoded.png"/>
          <p:cNvPicPr/>
          <p:nvPr/>
        </p:nvPicPr>
        <p:blipFill>
          <a:blip r:embed="rId3"/>
          <a:stretch/>
        </p:blipFill>
        <p:spPr>
          <a:xfrm>
            <a:off x="7281360" y="20325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14"/>
          <p:cNvSpPr/>
          <p:nvPr/>
        </p:nvSpPr>
        <p:spPr>
          <a:xfrm>
            <a:off x="6236280" y="26701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PLAN </a:t>
            </a: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판단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6346080" y="3127320"/>
            <a:ext cx="21942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카메라 객체탐지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쓰레기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상황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 +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라이다 거리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방향 융합 → 경로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회피 결정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8723520" y="28346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" name="Shape 17"/>
          <p:cNvSpPr/>
          <p:nvPr/>
        </p:nvSpPr>
        <p:spPr>
          <a:xfrm>
            <a:off x="8942760" y="1600200"/>
            <a:ext cx="2605680" cy="28800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" name="Shape 18"/>
          <p:cNvSpPr/>
          <p:nvPr/>
        </p:nvSpPr>
        <p:spPr>
          <a:xfrm>
            <a:off x="9921240" y="1874520"/>
            <a:ext cx="658080" cy="658080"/>
          </a:xfrm>
          <a:prstGeom prst="ellipse">
            <a:avLst/>
          </a:prstGeom>
          <a:solidFill>
            <a:srgbClr val="1E6091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28" name="Image 3" descr="preencoded.png"/>
          <p:cNvPicPr/>
          <p:nvPr/>
        </p:nvPicPr>
        <p:blipFill>
          <a:blip r:embed="rId4"/>
          <a:stretch/>
        </p:blipFill>
        <p:spPr>
          <a:xfrm>
            <a:off x="10079280" y="20325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19"/>
          <p:cNvSpPr/>
          <p:nvPr/>
        </p:nvSpPr>
        <p:spPr>
          <a:xfrm>
            <a:off x="9034200" y="26701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ACT </a:t>
            </a: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제어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9144000" y="3127320"/>
            <a:ext cx="21942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MAVLink → ArduRover → M200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모터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×2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차동 추력 구동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Shape 21"/>
          <p:cNvSpPr/>
          <p:nvPr/>
        </p:nvSpPr>
        <p:spPr>
          <a:xfrm>
            <a:off x="548640" y="4709160"/>
            <a:ext cx="11063880" cy="1371240"/>
          </a:xfrm>
          <a:prstGeom prst="roundRect">
            <a:avLst>
              <a:gd name="adj" fmla="val 6667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868680" y="5074920"/>
            <a:ext cx="658080" cy="65808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33" name="Image 4" descr="preencoded.png"/>
          <p:cNvPicPr/>
          <p:nvPr/>
        </p:nvPicPr>
        <p:blipFill>
          <a:blip r:embed="rId5"/>
          <a:stretch/>
        </p:blipFill>
        <p:spPr>
          <a:xfrm>
            <a:off x="1026720" y="52329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23"/>
          <p:cNvSpPr/>
          <p:nvPr/>
        </p:nvSpPr>
        <p:spPr>
          <a:xfrm>
            <a:off x="1691640" y="493776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PC </a:t>
            </a:r>
            <a:r>
              <a:rPr lang="ko-KR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지상관제국 </a:t>
            </a: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· QGroundControl (Ground Control Station)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1691640" y="5358240"/>
            <a:ext cx="9692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실시간 위치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상태 텔레메트리 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임무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경계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경로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설정 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수질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오염 지도 시각화 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 Geo-Fence·RTH·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원격 수동 개입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(Fail-safe)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" name="Text 26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05 · </a:t>
            </a:r>
            <a:r>
              <a:rPr lang="ko-KR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제품 라인업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공통 플랫폼에서 파생되는 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4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개 제품군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548640" y="14173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동일한 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ArduRover </a:t>
            </a:r>
            <a:r>
              <a:rPr lang="ko-KR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자율 플랫폼 위에 페이로드만 바꿔 시장별 제품으로 확장한다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548640" y="1965960"/>
            <a:ext cx="2605680" cy="3977280"/>
          </a:xfrm>
          <a:prstGeom prst="roundRect">
            <a:avLst>
              <a:gd name="adj" fmla="val 350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1527120" y="2240280"/>
            <a:ext cx="658080" cy="65808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43" name="Image 0" descr="preencoded.png"/>
          <p:cNvPicPr/>
          <p:nvPr/>
        </p:nvPicPr>
        <p:blipFill>
          <a:blip r:embed="rId1"/>
          <a:stretch/>
        </p:blipFill>
        <p:spPr>
          <a:xfrm>
            <a:off x="1685160" y="239832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5"/>
          <p:cNvSpPr/>
          <p:nvPr/>
        </p:nvSpPr>
        <p:spPr>
          <a:xfrm>
            <a:off x="685800" y="303588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수면 청소 드론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768240" y="3703320"/>
            <a:ext cx="2194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599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부유물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해상 쓰레기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조류 자율 수거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그물 견인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스키밍 방식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" name="Shape 7"/>
          <p:cNvSpPr/>
          <p:nvPr/>
        </p:nvSpPr>
        <p:spPr>
          <a:xfrm>
            <a:off x="768240" y="5321880"/>
            <a:ext cx="2175840" cy="456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768240" y="5321880"/>
            <a:ext cx="217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저수지</a:t>
            </a: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항만</a:t>
            </a: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양식장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3346560" y="1965960"/>
            <a:ext cx="2605680" cy="3977280"/>
          </a:xfrm>
          <a:prstGeom prst="roundRect">
            <a:avLst>
              <a:gd name="adj" fmla="val 350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" name="Shape 10"/>
          <p:cNvSpPr/>
          <p:nvPr/>
        </p:nvSpPr>
        <p:spPr>
          <a:xfrm>
            <a:off x="4325040" y="2240280"/>
            <a:ext cx="658080" cy="65808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50" name="Image 1" descr="preencoded.png"/>
          <p:cNvPicPr/>
          <p:nvPr/>
        </p:nvPicPr>
        <p:blipFill>
          <a:blip r:embed="rId2"/>
          <a:stretch/>
        </p:blipFill>
        <p:spPr>
          <a:xfrm>
            <a:off x="4483080" y="239832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11"/>
          <p:cNvSpPr/>
          <p:nvPr/>
        </p:nvSpPr>
        <p:spPr>
          <a:xfrm>
            <a:off x="3483720" y="303588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스키머 드론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3566160" y="3703320"/>
            <a:ext cx="2194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599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정수장 침전지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수조 스컴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부유물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제거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실내 전용 소형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" name="Shape 13"/>
          <p:cNvSpPr/>
          <p:nvPr/>
        </p:nvSpPr>
        <p:spPr>
          <a:xfrm>
            <a:off x="3566160" y="5321880"/>
            <a:ext cx="2175840" cy="456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3566160" y="5321880"/>
            <a:ext cx="217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정수장</a:t>
            </a: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수처리 플랜트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6144840" y="1965960"/>
            <a:ext cx="2605680" cy="3977280"/>
          </a:xfrm>
          <a:prstGeom prst="roundRect">
            <a:avLst>
              <a:gd name="adj" fmla="val 350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6" name="Shape 16"/>
          <p:cNvSpPr/>
          <p:nvPr/>
        </p:nvSpPr>
        <p:spPr>
          <a:xfrm>
            <a:off x="7123320" y="2240280"/>
            <a:ext cx="658080" cy="658080"/>
          </a:xfrm>
          <a:prstGeom prst="ellipse">
            <a:avLst/>
          </a:prstGeom>
          <a:solidFill>
            <a:srgbClr val="27A2A6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57" name="Image 2" descr="preencoded.png"/>
          <p:cNvPicPr/>
          <p:nvPr/>
        </p:nvPicPr>
        <p:blipFill>
          <a:blip r:embed="rId3"/>
          <a:stretch/>
        </p:blipFill>
        <p:spPr>
          <a:xfrm>
            <a:off x="7281360" y="239832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17"/>
          <p:cNvSpPr/>
          <p:nvPr/>
        </p:nvSpPr>
        <p:spPr>
          <a:xfrm>
            <a:off x="6282000" y="303588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모니터링</a:t>
            </a:r>
            <a:r>
              <a:rPr lang="en-US" sz="16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6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데이터 드론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9" name="Text 18"/>
          <p:cNvSpPr/>
          <p:nvPr/>
        </p:nvSpPr>
        <p:spPr>
          <a:xfrm>
            <a:off x="6364080" y="3703320"/>
            <a:ext cx="2194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599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수질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환경 조사 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면단위 오염 지도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데이터 구독 연계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0" name="Shape 19"/>
          <p:cNvSpPr/>
          <p:nvPr/>
        </p:nvSpPr>
        <p:spPr>
          <a:xfrm>
            <a:off x="6364080" y="5321880"/>
            <a:ext cx="2175840" cy="456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7A2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1" name="Text 20"/>
          <p:cNvSpPr/>
          <p:nvPr/>
        </p:nvSpPr>
        <p:spPr>
          <a:xfrm>
            <a:off x="6364080" y="5321880"/>
            <a:ext cx="217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지자체</a:t>
            </a:r>
            <a:r>
              <a:rPr lang="en-US" sz="11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연구기관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Shape 21"/>
          <p:cNvSpPr/>
          <p:nvPr/>
        </p:nvSpPr>
        <p:spPr>
          <a:xfrm>
            <a:off x="8942760" y="1965960"/>
            <a:ext cx="2605680" cy="3977280"/>
          </a:xfrm>
          <a:prstGeom prst="roundRect">
            <a:avLst>
              <a:gd name="adj" fmla="val 350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3" name="Shape 22"/>
          <p:cNvSpPr/>
          <p:nvPr/>
        </p:nvSpPr>
        <p:spPr>
          <a:xfrm>
            <a:off x="9921240" y="2240280"/>
            <a:ext cx="658080" cy="658080"/>
          </a:xfrm>
          <a:prstGeom prst="ellipse">
            <a:avLst/>
          </a:prstGeom>
          <a:solidFill>
            <a:srgbClr val="1E6091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64" name="Image 3" descr="preencoded.png"/>
          <p:cNvPicPr/>
          <p:nvPr/>
        </p:nvPicPr>
        <p:blipFill>
          <a:blip r:embed="rId4"/>
          <a:stretch/>
        </p:blipFill>
        <p:spPr>
          <a:xfrm>
            <a:off x="10079280" y="239832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23"/>
          <p:cNvSpPr/>
          <p:nvPr/>
        </p:nvSpPr>
        <p:spPr>
          <a:xfrm>
            <a:off x="9079920" y="303588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감시</a:t>
            </a:r>
            <a:r>
              <a:rPr lang="en-US" sz="16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65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순찰 드론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Text 24"/>
          <p:cNvSpPr/>
          <p:nvPr/>
        </p:nvSpPr>
        <p:spPr>
          <a:xfrm>
            <a:off x="9162360" y="3703320"/>
            <a:ext cx="2194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599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양식장 도난감시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해안 순찰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카메라 상황 인지 기반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7" name="Shape 25"/>
          <p:cNvSpPr/>
          <p:nvPr/>
        </p:nvSpPr>
        <p:spPr>
          <a:xfrm>
            <a:off x="9162360" y="5321880"/>
            <a:ext cx="2175840" cy="456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60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8" name="Text 26"/>
          <p:cNvSpPr/>
          <p:nvPr/>
        </p:nvSpPr>
        <p:spPr>
          <a:xfrm>
            <a:off x="9162360" y="5321880"/>
            <a:ext cx="217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1E6091"/>
                </a:solidFill>
                <a:effectLst/>
                <a:uFillTx/>
                <a:latin typeface="Calibri"/>
                <a:ea typeface="Calibri"/>
              </a:rPr>
              <a:t>양식</a:t>
            </a:r>
            <a:r>
              <a:rPr lang="en-US" sz="1100" b="1" u="none" strike="noStrike">
                <a:solidFill>
                  <a:srgbClr val="1E6091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00" b="1" u="none" strike="noStrike">
                <a:solidFill>
                  <a:srgbClr val="1E6091"/>
                </a:solidFill>
                <a:effectLst/>
                <a:uFillTx/>
                <a:latin typeface="Calibri"/>
                <a:ea typeface="Calibri"/>
              </a:rPr>
              <a:t>수산</a:t>
            </a:r>
            <a:r>
              <a:rPr lang="en-US" sz="1100" b="1" u="none" strike="noStrike">
                <a:solidFill>
                  <a:srgbClr val="1E6091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00" b="1" u="none" strike="noStrike">
                <a:solidFill>
                  <a:srgbClr val="1E6091"/>
                </a:solidFill>
                <a:effectLst/>
                <a:uFillTx/>
                <a:latin typeface="Calibri"/>
                <a:ea typeface="Calibri"/>
              </a:rPr>
              <a:t>해안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9" name="Text 27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0" name="Text 28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06 · </a:t>
            </a:r>
            <a:r>
              <a:rPr lang="ko-KR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활용 분야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실내 수조에서 연근해까지 — 단계적 확장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548640" y="1554480"/>
            <a:ext cx="3520080" cy="46173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548640" y="1554480"/>
            <a:ext cx="3520080" cy="9140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548640" y="2148840"/>
            <a:ext cx="3520080" cy="3196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6" name="Shape 5"/>
          <p:cNvSpPr/>
          <p:nvPr/>
        </p:nvSpPr>
        <p:spPr>
          <a:xfrm>
            <a:off x="822960" y="1719000"/>
            <a:ext cx="585000" cy="585000"/>
          </a:xfrm>
          <a:prstGeom prst="ellipse">
            <a:avLst/>
          </a:prstGeom>
          <a:solidFill>
            <a:srgbClr val="142850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77" name="Image 0" descr="preencoded.png"/>
          <p:cNvPicPr/>
          <p:nvPr/>
        </p:nvPicPr>
        <p:blipFill>
          <a:blip r:embed="rId1"/>
          <a:stretch/>
        </p:blipFill>
        <p:spPr>
          <a:xfrm>
            <a:off x="963360" y="1859400"/>
            <a:ext cx="303840" cy="30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6"/>
          <p:cNvSpPr/>
          <p:nvPr/>
        </p:nvSpPr>
        <p:spPr>
          <a:xfrm>
            <a:off x="1508760" y="175572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실내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/ </a:t>
            </a:r>
            <a:r>
              <a:rPr lang="ko-K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폐쇄수역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804600" y="27432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양식 수조</a:t>
            </a: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아쿠아리움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804600" y="3127320"/>
            <a:ext cx="3062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사료 잔여물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배설물 수거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수질 상시 감시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804600" y="4160520"/>
            <a:ext cx="301752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804600" y="44348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정수장</a:t>
            </a: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시험수조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804600" y="4818960"/>
            <a:ext cx="3062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표면 스컴 제거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탁도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/DO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모니터링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4" name="Shape 12"/>
          <p:cNvSpPr/>
          <p:nvPr/>
        </p:nvSpPr>
        <p:spPr>
          <a:xfrm>
            <a:off x="4279320" y="1554480"/>
            <a:ext cx="3520080" cy="46173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5" name="Shape 13"/>
          <p:cNvSpPr/>
          <p:nvPr/>
        </p:nvSpPr>
        <p:spPr>
          <a:xfrm>
            <a:off x="4279320" y="1554480"/>
            <a:ext cx="3520080" cy="9140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86" name="Shape 14"/>
          <p:cNvSpPr/>
          <p:nvPr/>
        </p:nvSpPr>
        <p:spPr>
          <a:xfrm>
            <a:off x="4279320" y="2148840"/>
            <a:ext cx="3520080" cy="31968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4553640" y="1719000"/>
            <a:ext cx="585000" cy="585000"/>
          </a:xfrm>
          <a:prstGeom prst="ellipse">
            <a:avLst/>
          </a:prstGeom>
          <a:solidFill>
            <a:srgbClr val="142850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88" name="Image 1" descr="preencoded.png"/>
          <p:cNvPicPr/>
          <p:nvPr/>
        </p:nvPicPr>
        <p:blipFill>
          <a:blip r:embed="rId2"/>
          <a:stretch/>
        </p:blipFill>
        <p:spPr>
          <a:xfrm>
            <a:off x="4694040" y="1859400"/>
            <a:ext cx="303840" cy="30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16"/>
          <p:cNvSpPr/>
          <p:nvPr/>
        </p:nvSpPr>
        <p:spPr>
          <a:xfrm>
            <a:off x="5239440" y="175572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실외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/ </a:t>
            </a:r>
            <a:r>
              <a:rPr lang="ko-K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담수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4535280" y="27432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저수지</a:t>
            </a:r>
            <a:r>
              <a:rPr lang="en-US" sz="14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호소</a:t>
            </a:r>
            <a:r>
              <a:rPr lang="en-US" sz="14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4535280" y="3127320"/>
            <a:ext cx="3062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녹조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부유쓰레기 수거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부영양화 지도화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4535280" y="4160520"/>
            <a:ext cx="301752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4535280" y="44348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도심 하천</a:t>
            </a:r>
            <a:r>
              <a:rPr lang="en-US" sz="14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수변공원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4535280" y="4818960"/>
            <a:ext cx="3062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생활 쓰레기 수거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경관 수질 관리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Shape 22"/>
          <p:cNvSpPr/>
          <p:nvPr/>
        </p:nvSpPr>
        <p:spPr>
          <a:xfrm>
            <a:off x="8010000" y="1554480"/>
            <a:ext cx="3520080" cy="46173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Shape 23"/>
          <p:cNvSpPr/>
          <p:nvPr/>
        </p:nvSpPr>
        <p:spPr>
          <a:xfrm>
            <a:off x="8010000" y="1554480"/>
            <a:ext cx="3520080" cy="914040"/>
          </a:xfrm>
          <a:prstGeom prst="roundRect">
            <a:avLst>
              <a:gd name="adj" fmla="val 10000"/>
            </a:avLst>
          </a:prstGeom>
          <a:solidFill>
            <a:srgbClr val="27A2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7" name="Shape 24"/>
          <p:cNvSpPr/>
          <p:nvPr/>
        </p:nvSpPr>
        <p:spPr>
          <a:xfrm>
            <a:off x="8010000" y="2148840"/>
            <a:ext cx="3520080" cy="319680"/>
          </a:xfrm>
          <a:prstGeom prst="rect">
            <a:avLst/>
          </a:prstGeom>
          <a:solidFill>
            <a:srgbClr val="27A2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8" name="Shape 25"/>
          <p:cNvSpPr/>
          <p:nvPr/>
        </p:nvSpPr>
        <p:spPr>
          <a:xfrm>
            <a:off x="8284320" y="1719000"/>
            <a:ext cx="585000" cy="585000"/>
          </a:xfrm>
          <a:prstGeom prst="ellipse">
            <a:avLst/>
          </a:prstGeom>
          <a:solidFill>
            <a:srgbClr val="142850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99" name="Image 2" descr="preencoded.png"/>
          <p:cNvPicPr/>
          <p:nvPr/>
        </p:nvPicPr>
        <p:blipFill>
          <a:blip r:embed="rId3"/>
          <a:stretch/>
        </p:blipFill>
        <p:spPr>
          <a:xfrm>
            <a:off x="8425080" y="1859400"/>
            <a:ext cx="303840" cy="30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26"/>
          <p:cNvSpPr/>
          <p:nvPr/>
        </p:nvSpPr>
        <p:spPr>
          <a:xfrm>
            <a:off x="8970120" y="175572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연근해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/ </a:t>
            </a:r>
            <a:r>
              <a:rPr lang="ko-K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항만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1" name="Text 27"/>
          <p:cNvSpPr/>
          <p:nvPr/>
        </p:nvSpPr>
        <p:spPr>
          <a:xfrm>
            <a:off x="8266320" y="27432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항만</a:t>
            </a:r>
            <a:r>
              <a:rPr lang="en-US" sz="14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마리나</a:t>
            </a:r>
            <a:r>
              <a:rPr lang="en-US" sz="14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양식장 인근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2" name="Text 28"/>
          <p:cNvSpPr/>
          <p:nvPr/>
        </p:nvSpPr>
        <p:spPr>
          <a:xfrm>
            <a:off x="8266320" y="3127320"/>
            <a:ext cx="3062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해양 쓰레기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유막 수거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순찰 감시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3" name="Shape 29"/>
          <p:cNvSpPr/>
          <p:nvPr/>
        </p:nvSpPr>
        <p:spPr>
          <a:xfrm>
            <a:off x="8265960" y="4160520"/>
            <a:ext cx="301752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Text 30"/>
          <p:cNvSpPr/>
          <p:nvPr/>
        </p:nvSpPr>
        <p:spPr>
          <a:xfrm>
            <a:off x="8266320" y="44348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해수욕장</a:t>
            </a:r>
            <a:r>
              <a:rPr lang="en-US" sz="14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4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연안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Text 31"/>
          <p:cNvSpPr/>
          <p:nvPr/>
        </p:nvSpPr>
        <p:spPr>
          <a:xfrm>
            <a:off x="8266320" y="4818960"/>
            <a:ext cx="3062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표류물 수거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수질 안전 모니터링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Text 32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7" name="Text 33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07 · </a:t>
            </a:r>
            <a:r>
              <a:rPr lang="ko-KR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시장 규모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빠르게 성장하는 무인수상선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(USV) 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시장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0" name="Shape 2"/>
          <p:cNvSpPr/>
          <p:nvPr/>
        </p:nvSpPr>
        <p:spPr>
          <a:xfrm>
            <a:off x="548640" y="1463040"/>
            <a:ext cx="2605680" cy="1416960"/>
          </a:xfrm>
          <a:prstGeom prst="roundRect">
            <a:avLst>
              <a:gd name="adj" fmla="val 5806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640080" y="1591200"/>
            <a:ext cx="2422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$8.2</a:t>
            </a:r>
            <a:r>
              <a:rPr lang="ko-KR" sz="3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억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658440" y="2286000"/>
            <a:ext cx="2386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USV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세계시장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(2025)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3" name="Shape 5"/>
          <p:cNvSpPr/>
          <p:nvPr/>
        </p:nvSpPr>
        <p:spPr>
          <a:xfrm>
            <a:off x="3346560" y="1463040"/>
            <a:ext cx="2605680" cy="1416960"/>
          </a:xfrm>
          <a:prstGeom prst="roundRect">
            <a:avLst>
              <a:gd name="adj" fmla="val 5806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3438000" y="1591200"/>
            <a:ext cx="2422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$15.9</a:t>
            </a:r>
            <a:r>
              <a:rPr lang="ko-KR" sz="3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억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3456360" y="2286000"/>
            <a:ext cx="2386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USV 2030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전망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(CAGR ~14%)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6144840" y="1463040"/>
            <a:ext cx="2605680" cy="1416960"/>
          </a:xfrm>
          <a:prstGeom prst="roundRect">
            <a:avLst>
              <a:gd name="adj" fmla="val 5806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6236280" y="1591200"/>
            <a:ext cx="2422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$334</a:t>
            </a:r>
            <a:r>
              <a:rPr lang="ko-KR" sz="30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억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6254640" y="2286000"/>
            <a:ext cx="2386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세계 해양 안전시장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9" name="Shape 11"/>
          <p:cNvSpPr/>
          <p:nvPr/>
        </p:nvSpPr>
        <p:spPr>
          <a:xfrm>
            <a:off x="8942760" y="1463040"/>
            <a:ext cx="2605680" cy="1416960"/>
          </a:xfrm>
          <a:prstGeom prst="roundRect">
            <a:avLst>
              <a:gd name="adj" fmla="val 5806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0" name="Text 12"/>
          <p:cNvSpPr/>
          <p:nvPr/>
        </p:nvSpPr>
        <p:spPr>
          <a:xfrm>
            <a:off x="9034200" y="1591200"/>
            <a:ext cx="2422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6091"/>
                </a:solidFill>
                <a:effectLst/>
                <a:uFillTx/>
                <a:latin typeface="Cambria"/>
                <a:ea typeface="Cambria"/>
              </a:rPr>
              <a:t>4→30</a:t>
            </a:r>
            <a:r>
              <a:rPr lang="ko-KR" sz="3000" b="1" u="none" strike="noStrike">
                <a:solidFill>
                  <a:srgbClr val="1E6091"/>
                </a:solidFill>
                <a:effectLst/>
                <a:uFillTx/>
                <a:latin typeface="Cambria"/>
                <a:ea typeface="Cambria"/>
              </a:rPr>
              <a:t>척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1" name="Text 13"/>
          <p:cNvSpPr/>
          <p:nvPr/>
        </p:nvSpPr>
        <p:spPr>
          <a:xfrm>
            <a:off x="9052560" y="2286000"/>
            <a:ext cx="2386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美 인도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태평양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USV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배치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(2030)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Shape 14"/>
          <p:cNvSpPr/>
          <p:nvPr/>
        </p:nvSpPr>
        <p:spPr>
          <a:xfrm>
            <a:off x="548640" y="3108960"/>
            <a:ext cx="6400440" cy="26971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777240" y="320040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글로벌 무인수상선</a:t>
            </a:r>
            <a:r>
              <a:rPr lang="en-US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(USV) </a:t>
            </a:r>
            <a:r>
              <a:rPr lang="ko-KR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시장 규모 </a:t>
            </a:r>
            <a:r>
              <a:rPr lang="en-US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억 </a:t>
            </a:r>
            <a:r>
              <a:rPr lang="en-US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USD)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224" name="Chart 0"/>
          <p:cNvGraphicFramePr/>
          <p:nvPr/>
        </p:nvGraphicFramePr>
        <p:xfrm>
          <a:off x="640080" y="3566160"/>
          <a:ext cx="621756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5" name="Shape 16"/>
          <p:cNvSpPr/>
          <p:nvPr/>
        </p:nvSpPr>
        <p:spPr>
          <a:xfrm>
            <a:off x="7086600" y="3108960"/>
            <a:ext cx="452592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6" name="Shape 17"/>
          <p:cNvSpPr/>
          <p:nvPr/>
        </p:nvSpPr>
        <p:spPr>
          <a:xfrm>
            <a:off x="7269480" y="3255120"/>
            <a:ext cx="493560" cy="493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27" name="Text 18"/>
          <p:cNvSpPr/>
          <p:nvPr/>
        </p:nvSpPr>
        <p:spPr>
          <a:xfrm>
            <a:off x="7269480" y="325512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8" name="Text 19"/>
          <p:cNvSpPr/>
          <p:nvPr/>
        </p:nvSpPr>
        <p:spPr>
          <a:xfrm>
            <a:off x="7909560" y="3200400"/>
            <a:ext cx="3611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환경 규제</a:t>
            </a:r>
            <a:r>
              <a:rPr lang="en-US" sz="11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부영양화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해양쓰레기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녹조 대응 의무 강화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반복 청소 수요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9" name="Shape 20"/>
          <p:cNvSpPr/>
          <p:nvPr/>
        </p:nvSpPr>
        <p:spPr>
          <a:xfrm>
            <a:off x="7086600" y="4005000"/>
            <a:ext cx="452592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Shape 21"/>
          <p:cNvSpPr/>
          <p:nvPr/>
        </p:nvSpPr>
        <p:spPr>
          <a:xfrm>
            <a:off x="7269480" y="4151520"/>
            <a:ext cx="493560" cy="493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7269480" y="415152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2" name="Text 23"/>
          <p:cNvSpPr/>
          <p:nvPr/>
        </p:nvSpPr>
        <p:spPr>
          <a:xfrm>
            <a:off x="7909560" y="4096440"/>
            <a:ext cx="3611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인건비</a:t>
            </a:r>
            <a:r>
              <a:rPr lang="en-US" sz="11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안전</a:t>
            </a:r>
            <a:r>
              <a:rPr lang="en-US" sz="11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(HSE)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고위험 수작업 대체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무인 자율화 전환 가속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3" name="Shape 24"/>
          <p:cNvSpPr/>
          <p:nvPr/>
        </p:nvSpPr>
        <p:spPr>
          <a:xfrm>
            <a:off x="7086600" y="4901040"/>
            <a:ext cx="4525920" cy="78588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4" name="Shape 25"/>
          <p:cNvSpPr/>
          <p:nvPr/>
        </p:nvSpPr>
        <p:spPr>
          <a:xfrm>
            <a:off x="7269480" y="5047560"/>
            <a:ext cx="493560" cy="493560"/>
          </a:xfrm>
          <a:prstGeom prst="ellipse">
            <a:avLst/>
          </a:prstGeom>
          <a:solidFill>
            <a:srgbClr val="27A2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35" name="Text 26"/>
          <p:cNvSpPr/>
          <p:nvPr/>
        </p:nvSpPr>
        <p:spPr>
          <a:xfrm>
            <a:off x="7269480" y="504756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6" name="Text 27"/>
          <p:cNvSpPr/>
          <p:nvPr/>
        </p:nvSpPr>
        <p:spPr>
          <a:xfrm>
            <a:off x="7909560" y="4992480"/>
            <a:ext cx="3611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수질 데이터 수요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면단위 실시간 수질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환경 데이터 상용화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7" name="Text 28"/>
          <p:cNvSpPr/>
          <p:nvPr/>
        </p:nvSpPr>
        <p:spPr>
          <a:xfrm>
            <a:off x="548640" y="594360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출처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: MarketsandMarkets·Vynz Research(USV), USNI/Navy Times(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美 인도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태평양 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USV 4→30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척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), 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플루톤 사업계획서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해양안전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8" name="Text 29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9" name="Text 30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08 · </a:t>
            </a:r>
            <a:r>
              <a:rPr lang="ko-KR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시장 지형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USV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는 이미 상용화 — 우리는 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«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환경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수거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»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에 집중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548640" y="13716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USV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용도는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4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개 축으로 성숙 중이다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수로측량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과학관측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쓰레기수거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수질은 상용 단계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방위는 실전 배치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우리 타깃은 소형 저비용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환경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수거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»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계열이다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3" name="Shape 3"/>
          <p:cNvSpPr/>
          <p:nvPr/>
        </p:nvSpPr>
        <p:spPr>
          <a:xfrm>
            <a:off x="548640" y="2011680"/>
            <a:ext cx="5257440" cy="13896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804600" y="2267640"/>
            <a:ext cx="621360" cy="62136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245" name="Image 0" descr="preencoded.png"/>
          <p:cNvPicPr/>
          <p:nvPr/>
        </p:nvPicPr>
        <p:blipFill>
          <a:blip r:embed="rId1"/>
          <a:stretch/>
        </p:blipFill>
        <p:spPr>
          <a:xfrm>
            <a:off x="954000" y="2417040"/>
            <a:ext cx="322920" cy="32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5"/>
          <p:cNvSpPr/>
          <p:nvPr/>
        </p:nvSpPr>
        <p:spPr>
          <a:xfrm>
            <a:off x="1600200" y="22129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① 환경</a:t>
            </a: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수거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1600200" y="2615040"/>
            <a:ext cx="4023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쓰레기 수거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수질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기름방제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녹조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8" name="Shape 7"/>
          <p:cNvSpPr/>
          <p:nvPr/>
        </p:nvSpPr>
        <p:spPr>
          <a:xfrm>
            <a:off x="4526280" y="2194560"/>
            <a:ext cx="1170000" cy="36540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4526280" y="2194560"/>
            <a:ext cx="117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상용</a:t>
            </a:r>
            <a:r>
              <a:rPr lang="en-US" sz="9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~</a:t>
            </a:r>
            <a:r>
              <a:rPr lang="ko-KR" sz="9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파일럿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1600200" y="3035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● 우리 타깃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1" name="Shape 10"/>
          <p:cNvSpPr/>
          <p:nvPr/>
        </p:nvSpPr>
        <p:spPr>
          <a:xfrm>
            <a:off x="6172200" y="2011680"/>
            <a:ext cx="5257440" cy="13896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6428160" y="2267640"/>
            <a:ext cx="621360" cy="62136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253" name="Image 1" descr="preencoded.png"/>
          <p:cNvPicPr/>
          <p:nvPr/>
        </p:nvPicPr>
        <p:blipFill>
          <a:blip r:embed="rId2"/>
          <a:stretch/>
        </p:blipFill>
        <p:spPr>
          <a:xfrm>
            <a:off x="6577560" y="2417040"/>
            <a:ext cx="322920" cy="32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12"/>
          <p:cNvSpPr/>
          <p:nvPr/>
        </p:nvSpPr>
        <p:spPr>
          <a:xfrm>
            <a:off x="7223760" y="22129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② 탐사</a:t>
            </a: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측량</a:t>
            </a: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과학</a:t>
            </a: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감시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5" name="Text 13"/>
          <p:cNvSpPr/>
          <p:nvPr/>
        </p:nvSpPr>
        <p:spPr>
          <a:xfrm>
            <a:off x="7223760" y="2615040"/>
            <a:ext cx="4023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수로측량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해양관측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·ISR·SAR·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인프라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6" name="Shape 14"/>
          <p:cNvSpPr/>
          <p:nvPr/>
        </p:nvSpPr>
        <p:spPr>
          <a:xfrm>
            <a:off x="10149840" y="2194560"/>
            <a:ext cx="1170000" cy="365400"/>
          </a:xfrm>
          <a:prstGeom prst="roundRect">
            <a:avLst>
              <a:gd name="adj" fmla="val 12500"/>
            </a:avLst>
          </a:prstGeom>
          <a:solidFill>
            <a:srgbClr val="27A2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7" name="Text 15"/>
          <p:cNvSpPr/>
          <p:nvPr/>
        </p:nvSpPr>
        <p:spPr>
          <a:xfrm>
            <a:off x="10149840" y="2194560"/>
            <a:ext cx="117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상용</a:t>
            </a:r>
            <a:r>
              <a:rPr lang="en-US" sz="9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9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가장 성숙</a:t>
            </a:r>
            <a:r>
              <a:rPr lang="en-US" sz="9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8" name="Shape 16"/>
          <p:cNvSpPr/>
          <p:nvPr/>
        </p:nvSpPr>
        <p:spPr>
          <a:xfrm>
            <a:off x="548640" y="3584520"/>
            <a:ext cx="5257440" cy="13896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9" name="Shape 17"/>
          <p:cNvSpPr/>
          <p:nvPr/>
        </p:nvSpPr>
        <p:spPr>
          <a:xfrm>
            <a:off x="804600" y="3840480"/>
            <a:ext cx="621360" cy="621360"/>
          </a:xfrm>
          <a:prstGeom prst="ellipse">
            <a:avLst/>
          </a:prstGeom>
          <a:solidFill>
            <a:srgbClr val="1E6091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260" name="Image 2" descr="preencoded.png"/>
          <p:cNvPicPr/>
          <p:nvPr/>
        </p:nvPicPr>
        <p:blipFill>
          <a:blip r:embed="rId3"/>
          <a:stretch/>
        </p:blipFill>
        <p:spPr>
          <a:xfrm>
            <a:off x="954000" y="3989880"/>
            <a:ext cx="322920" cy="32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18"/>
          <p:cNvSpPr/>
          <p:nvPr/>
        </p:nvSpPr>
        <p:spPr>
          <a:xfrm>
            <a:off x="1600200" y="37857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③ 방위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1600200" y="4187880"/>
            <a:ext cx="4023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타격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기뢰대응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대잠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스웜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3" name="Shape 20"/>
          <p:cNvSpPr/>
          <p:nvPr/>
        </p:nvSpPr>
        <p:spPr>
          <a:xfrm>
            <a:off x="4526280" y="3767400"/>
            <a:ext cx="1170000" cy="365400"/>
          </a:xfrm>
          <a:prstGeom prst="roundRect">
            <a:avLst>
              <a:gd name="adj" fmla="val 12500"/>
            </a:avLst>
          </a:prstGeom>
          <a:solidFill>
            <a:srgbClr val="F4A2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4" name="Text 21"/>
          <p:cNvSpPr/>
          <p:nvPr/>
        </p:nvSpPr>
        <p:spPr>
          <a:xfrm>
            <a:off x="4526280" y="3767400"/>
            <a:ext cx="117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실전 배치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5" name="Shape 22"/>
          <p:cNvSpPr/>
          <p:nvPr/>
        </p:nvSpPr>
        <p:spPr>
          <a:xfrm>
            <a:off x="6172200" y="3584520"/>
            <a:ext cx="5257440" cy="138960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6" name="Shape 23"/>
          <p:cNvSpPr/>
          <p:nvPr/>
        </p:nvSpPr>
        <p:spPr>
          <a:xfrm>
            <a:off x="6428160" y="3840480"/>
            <a:ext cx="621360" cy="621360"/>
          </a:xfrm>
          <a:prstGeom prst="ellipse">
            <a:avLst/>
          </a:prstGeom>
          <a:solidFill>
            <a:srgbClr val="27A2A6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267" name="Image 3" descr="preencoded.png"/>
          <p:cNvPicPr/>
          <p:nvPr/>
        </p:nvPicPr>
        <p:blipFill>
          <a:blip r:embed="rId4"/>
          <a:stretch/>
        </p:blipFill>
        <p:spPr>
          <a:xfrm>
            <a:off x="6577560" y="3989880"/>
            <a:ext cx="322920" cy="32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24"/>
          <p:cNvSpPr/>
          <p:nvPr/>
        </p:nvSpPr>
        <p:spPr>
          <a:xfrm>
            <a:off x="7223760" y="37857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④ 물류</a:t>
            </a: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산업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9" name="Text 25"/>
          <p:cNvSpPr/>
          <p:nvPr/>
        </p:nvSpPr>
        <p:spPr>
          <a:xfrm>
            <a:off x="7223760" y="4187880"/>
            <a:ext cx="4023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자율운항선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예인 자동화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데이터 릴레이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0" name="Shape 26"/>
          <p:cNvSpPr/>
          <p:nvPr/>
        </p:nvSpPr>
        <p:spPr>
          <a:xfrm>
            <a:off x="10149840" y="3767400"/>
            <a:ext cx="1170000" cy="36540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1" name="Text 27"/>
          <p:cNvSpPr/>
          <p:nvPr/>
        </p:nvSpPr>
        <p:spPr>
          <a:xfrm>
            <a:off x="10149840" y="3767400"/>
            <a:ext cx="117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초기 상용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2" name="Shape 28"/>
          <p:cNvSpPr/>
          <p:nvPr/>
        </p:nvSpPr>
        <p:spPr>
          <a:xfrm>
            <a:off x="548640" y="5257800"/>
            <a:ext cx="11063880" cy="868320"/>
          </a:xfrm>
          <a:prstGeom prst="roundRect">
            <a:avLst>
              <a:gd name="adj" fmla="val 10526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3" name="Shape 29"/>
          <p:cNvSpPr/>
          <p:nvPr/>
        </p:nvSpPr>
        <p:spPr>
          <a:xfrm>
            <a:off x="777240" y="541332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274" name="Image 4" descr="preencoded.png"/>
          <p:cNvPicPr/>
          <p:nvPr/>
        </p:nvPicPr>
        <p:blipFill>
          <a:blip r:embed="rId5"/>
          <a:stretch/>
        </p:blipFill>
        <p:spPr>
          <a:xfrm>
            <a:off x="909000" y="5545080"/>
            <a:ext cx="284760" cy="2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 30"/>
          <p:cNvSpPr/>
          <p:nvPr/>
        </p:nvSpPr>
        <p:spPr>
          <a:xfrm>
            <a:off x="1463040" y="5349240"/>
            <a:ext cx="9966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진입 전략  </a:t>
            </a:r>
            <a:r>
              <a:rPr lang="ko-KR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저비용 소형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ASV($2,500~11,000) </a:t>
            </a:r>
            <a:r>
              <a:rPr lang="ko-KR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시장이 이미 형성 →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ko-KR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환경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수거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수질 모니터링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» </a:t>
            </a:r>
            <a:r>
              <a:rPr lang="ko-KR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통합으로 차별화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데이터 자산화로 확장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6" name="Text 31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7" name="Text 32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09 · </a:t>
            </a:r>
            <a:r>
              <a:rPr lang="ko-KR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목표시장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타깃 시장 규모와 단계적 점유 목표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0" name="Shape 2"/>
          <p:cNvSpPr/>
          <p:nvPr/>
        </p:nvSpPr>
        <p:spPr>
          <a:xfrm>
            <a:off x="548640" y="1600200"/>
            <a:ext cx="3520080" cy="3245760"/>
          </a:xfrm>
          <a:prstGeom prst="roundRect">
            <a:avLst>
              <a:gd name="adj" fmla="val 2817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822960" y="1874520"/>
            <a:ext cx="658080" cy="65808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282" name="Image 0" descr="preencoded.png"/>
          <p:cNvPicPr/>
          <p:nvPr/>
        </p:nvPicPr>
        <p:blipFill>
          <a:blip r:embed="rId1"/>
          <a:stretch/>
        </p:blipFill>
        <p:spPr>
          <a:xfrm>
            <a:off x="981000" y="20325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 4"/>
          <p:cNvSpPr/>
          <p:nvPr/>
        </p:nvSpPr>
        <p:spPr>
          <a:xfrm>
            <a:off x="1645920" y="19386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수상드론 전문시장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4" name="Text 5"/>
          <p:cNvSpPr/>
          <p:nvPr/>
        </p:nvSpPr>
        <p:spPr>
          <a:xfrm>
            <a:off x="822960" y="2788920"/>
            <a:ext cx="3017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ko-KR" sz="17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해외 약 </a:t>
            </a:r>
            <a:r>
              <a:rPr lang="en-US" sz="17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2</a:t>
            </a:r>
            <a:r>
              <a:rPr lang="ko-KR" sz="17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조원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국내 약 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천억원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822960" y="41148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청소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감시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모니터링 무인선 시장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6" name="Shape 7"/>
          <p:cNvSpPr/>
          <p:nvPr/>
        </p:nvSpPr>
        <p:spPr>
          <a:xfrm>
            <a:off x="4279320" y="1600200"/>
            <a:ext cx="3520080" cy="3245760"/>
          </a:xfrm>
          <a:prstGeom prst="roundRect">
            <a:avLst>
              <a:gd name="adj" fmla="val 2817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7" name="Shape 8"/>
          <p:cNvSpPr/>
          <p:nvPr/>
        </p:nvSpPr>
        <p:spPr>
          <a:xfrm>
            <a:off x="4553640" y="1874520"/>
            <a:ext cx="658080" cy="65808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288" name="Image 1" descr="preencoded.png"/>
          <p:cNvPicPr/>
          <p:nvPr/>
        </p:nvPicPr>
        <p:blipFill>
          <a:blip r:embed="rId2"/>
          <a:stretch/>
        </p:blipFill>
        <p:spPr>
          <a:xfrm>
            <a:off x="4711680" y="20325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9"/>
          <p:cNvSpPr/>
          <p:nvPr/>
        </p:nvSpPr>
        <p:spPr>
          <a:xfrm>
            <a:off x="5376600" y="19386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해양 빅데이터 시장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0" name="Text 10"/>
          <p:cNvSpPr/>
          <p:nvPr/>
        </p:nvSpPr>
        <p:spPr>
          <a:xfrm>
            <a:off x="4553640" y="2788920"/>
            <a:ext cx="3017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ko-KR" sz="17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해외 약 </a:t>
            </a:r>
            <a:r>
              <a:rPr lang="en-US" sz="17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3.4</a:t>
            </a:r>
            <a:r>
              <a:rPr lang="ko-KR" sz="17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조원 </a:t>
            </a:r>
            <a:r>
              <a:rPr lang="en-US" sz="17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(2025)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국내 약 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5.6</a:t>
            </a: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천억원 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(2020)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4553640" y="41148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수질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환경 데이터 구독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판매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2" name="Shape 12"/>
          <p:cNvSpPr/>
          <p:nvPr/>
        </p:nvSpPr>
        <p:spPr>
          <a:xfrm>
            <a:off x="8010000" y="1600200"/>
            <a:ext cx="3520080" cy="3245760"/>
          </a:xfrm>
          <a:prstGeom prst="roundRect">
            <a:avLst>
              <a:gd name="adj" fmla="val 2817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3" name="Shape 13"/>
          <p:cNvSpPr/>
          <p:nvPr/>
        </p:nvSpPr>
        <p:spPr>
          <a:xfrm>
            <a:off x="8284320" y="1874520"/>
            <a:ext cx="658080" cy="658080"/>
          </a:xfrm>
          <a:prstGeom prst="ellipse">
            <a:avLst/>
          </a:prstGeom>
          <a:solidFill>
            <a:srgbClr val="27A2A6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294" name="Image 2" descr="preencoded.png"/>
          <p:cNvPicPr/>
          <p:nvPr/>
        </p:nvPicPr>
        <p:blipFill>
          <a:blip r:embed="rId3"/>
          <a:stretch/>
        </p:blipFill>
        <p:spPr>
          <a:xfrm>
            <a:off x="8442360" y="20325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14"/>
          <p:cNvSpPr/>
          <p:nvPr/>
        </p:nvSpPr>
        <p:spPr>
          <a:xfrm>
            <a:off x="9107280" y="19386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초기 진입</a:t>
            </a:r>
            <a:r>
              <a:rPr lang="en-US" sz="16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(SOM)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6" name="Text 15"/>
          <p:cNvSpPr/>
          <p:nvPr/>
        </p:nvSpPr>
        <p:spPr>
          <a:xfrm>
            <a:off x="8284320" y="2788920"/>
            <a:ext cx="3017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ko-KR" sz="17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양식</a:t>
            </a:r>
            <a:r>
              <a:rPr lang="en-US" sz="17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7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정수장</a:t>
            </a:r>
            <a:r>
              <a:rPr lang="en-US" sz="17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7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지자체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청소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스키머 계약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+</a:t>
            </a: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렌탈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7" name="Text 16"/>
          <p:cNvSpPr/>
          <p:nvPr/>
        </p:nvSpPr>
        <p:spPr>
          <a:xfrm>
            <a:off x="8284320" y="41148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레퍼런스 확보 후 확장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8" name="Shape 17"/>
          <p:cNvSpPr/>
          <p:nvPr/>
        </p:nvSpPr>
        <p:spPr>
          <a:xfrm>
            <a:off x="548640" y="5074920"/>
            <a:ext cx="11063880" cy="1005480"/>
          </a:xfrm>
          <a:prstGeom prst="roundRect">
            <a:avLst>
              <a:gd name="adj" fmla="val 9091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99" name="Shape 18"/>
          <p:cNvSpPr/>
          <p:nvPr/>
        </p:nvSpPr>
        <p:spPr>
          <a:xfrm>
            <a:off x="868680" y="5285160"/>
            <a:ext cx="603000" cy="603000"/>
          </a:xfrm>
          <a:prstGeom prst="ellipse">
            <a:avLst/>
          </a:prstGeom>
          <a:solidFill>
            <a:srgbClr val="27A2A6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00" name="Image 3" descr="preencoded.png"/>
          <p:cNvPicPr/>
          <p:nvPr/>
        </p:nvPicPr>
        <p:blipFill>
          <a:blip r:embed="rId4"/>
          <a:stretch/>
        </p:blipFill>
        <p:spPr>
          <a:xfrm>
            <a:off x="1013400" y="5430240"/>
            <a:ext cx="313560" cy="3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 19"/>
          <p:cNvSpPr/>
          <p:nvPr/>
        </p:nvSpPr>
        <p:spPr>
          <a:xfrm>
            <a:off x="1600200" y="52578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사업 목표  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실내 청소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MVP → 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다제품 라인업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데이터 구독으로 확장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2028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년 매출 규모화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참고 벤치마크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플루톤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2028 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목표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380</a:t>
            </a:r>
            <a:r>
              <a:rPr lang="ko-KR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억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2" name="Text 20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3" name="Text 21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10 · </a:t>
            </a:r>
            <a:r>
              <a:rPr lang="ko-KR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경쟁 구도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청소 드론 경쟁 지형 — 실측 성능으로 본 기회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306" name="Table 0"/>
          <p:cNvGraphicFramePr/>
          <p:nvPr/>
        </p:nvGraphicFramePr>
        <p:xfrm>
          <a:off x="548640" y="1463040"/>
          <a:ext cx="11063880" cy="3620520"/>
        </p:xfrm>
        <a:graphic>
          <a:graphicData uri="http://schemas.openxmlformats.org/drawingml/2006/table">
            <a:tbl>
              <a:tblPr/>
              <a:tblGrid>
                <a:gridCol w="2834640"/>
                <a:gridCol w="2468880"/>
                <a:gridCol w="2926080"/>
                <a:gridCol w="2834640"/>
              </a:tblGrid>
              <a:tr h="60336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제품 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제조사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방식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수거 성능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자율 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센서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</a:tr>
              <a:tr h="60336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WasteShark (RanMarine)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표면 스키밍 쌍동선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제조사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500~1,000kg/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일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현장 실측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~8.7kg/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일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GPS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자율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Camera·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수질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옵션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Clearbot (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홍콩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태양광 자율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최대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250kg/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일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AI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카메라 쓰레기 식별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Jellyfishbot (IADYS)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소형 그물 견인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기름 흡착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그물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80L·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기름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30L/6h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원격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자율 소형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Interceptor (Ocean Cleanup)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하천 정박 컨베이어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만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~10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만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kg/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일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대형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정박형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비이동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428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AQUA-X (</a:t>
                      </a:r>
                      <a:r>
                        <a:rPr lang="ko-KR" sz="1100" b="1" u="none" strike="noStrike">
                          <a:solidFill>
                            <a:srgbClr val="1428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개발 목표</a:t>
                      </a:r>
                      <a:r>
                        <a:rPr lang="en-US" sz="1100" b="1" u="none" strike="noStrike">
                          <a:solidFill>
                            <a:srgbClr val="1428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D8F3F0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그물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스키밍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모니터링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D8F3F0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밀도 기준 현실화 목표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D8F3F0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65A8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RTK+Lidar+Camera </a:t>
                      </a:r>
                      <a:r>
                        <a:rPr lang="ko-KR" sz="1100" b="1" u="none" strike="noStrike">
                          <a:solidFill>
                            <a:srgbClr val="065A8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융합 </a:t>
                      </a:r>
                      <a:r>
                        <a:rPr lang="en-US" sz="1100" b="1" u="none" strike="noStrike">
                          <a:solidFill>
                            <a:srgbClr val="065A8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 </a:t>
                      </a:r>
                      <a:r>
                        <a:rPr lang="ko-KR" sz="1100" b="1" u="none" strike="noStrike">
                          <a:solidFill>
                            <a:srgbClr val="065A8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수질지도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D8F3F0"/>
                    </a:solidFill>
                  </a:tcPr>
                </a:tc>
              </a:tr>
            </a:tbl>
          </a:graphicData>
        </a:graphic>
      </p:graphicFrame>
      <p:sp>
        <p:nvSpPr>
          <p:cNvPr id="307" name="Text 2"/>
          <p:cNvSpPr/>
          <p:nvPr/>
        </p:nvSpPr>
        <p:spPr>
          <a:xfrm>
            <a:off x="548640" y="5897880"/>
            <a:ext cx="11063880" cy="456840"/>
          </a:xfrm>
          <a:prstGeom prst="rect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4A259"/>
                </a:solidFill>
                <a:effectLst/>
                <a:uFillTx/>
                <a:latin typeface="Calibri"/>
                <a:ea typeface="Calibri"/>
              </a:rPr>
              <a:t>핵심 인사이트  </a:t>
            </a:r>
            <a:r>
              <a:rPr lang="ko-K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제조사 수거량과 현장 실측은 수십 배 차이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(WasteShark 500kg→</a:t>
            </a:r>
            <a:r>
              <a:rPr lang="ko-K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실측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8.7kg). </a:t>
            </a:r>
            <a:r>
              <a:rPr lang="ko-K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성능은 쓰레기 밀도 기준으로 현실화하고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«</a:t>
            </a:r>
            <a:r>
              <a:rPr lang="ko-K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청소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lang="ko-K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모니터링 통합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데이터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»</a:t>
            </a:r>
            <a:r>
              <a:rPr lang="ko-K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로 차별화한다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11 · </a:t>
            </a:r>
            <a:r>
              <a:rPr lang="ko-KR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비즈니스 모델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B2G·B2B·B2C 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판매 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+ 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렌탈 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+ 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데이터 구독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2" name="Shape 2"/>
          <p:cNvSpPr/>
          <p:nvPr/>
        </p:nvSpPr>
        <p:spPr>
          <a:xfrm>
            <a:off x="548640" y="1554480"/>
            <a:ext cx="3520080" cy="2514240"/>
          </a:xfrm>
          <a:prstGeom prst="roundRect">
            <a:avLst>
              <a:gd name="adj" fmla="val 3636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822960" y="1828800"/>
            <a:ext cx="658080" cy="65808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14" name="Image 0" descr="preencoded.png"/>
          <p:cNvPicPr/>
          <p:nvPr/>
        </p:nvPicPr>
        <p:blipFill>
          <a:blip r:embed="rId1"/>
          <a:stretch/>
        </p:blipFill>
        <p:spPr>
          <a:xfrm>
            <a:off x="981000" y="198684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4"/>
          <p:cNvSpPr/>
          <p:nvPr/>
        </p:nvSpPr>
        <p:spPr>
          <a:xfrm>
            <a:off x="1645920" y="18745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B2G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822960" y="269748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지자체</a:t>
            </a:r>
            <a:r>
              <a:rPr lang="en-US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환경부</a:t>
            </a:r>
            <a:r>
              <a:rPr lang="en-US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수자원공사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7" name="Text 6"/>
          <p:cNvSpPr/>
          <p:nvPr/>
        </p:nvSpPr>
        <p:spPr>
          <a:xfrm>
            <a:off x="822960" y="312732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저수지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하천 청소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정수장 스키머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수질 모니터링 — 공공조달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렌탈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8" name="Shape 7"/>
          <p:cNvSpPr/>
          <p:nvPr/>
        </p:nvSpPr>
        <p:spPr>
          <a:xfrm>
            <a:off x="4279320" y="1554480"/>
            <a:ext cx="3520080" cy="2514240"/>
          </a:xfrm>
          <a:prstGeom prst="roundRect">
            <a:avLst>
              <a:gd name="adj" fmla="val 3636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9" name="Shape 8"/>
          <p:cNvSpPr/>
          <p:nvPr/>
        </p:nvSpPr>
        <p:spPr>
          <a:xfrm>
            <a:off x="4553640" y="1828800"/>
            <a:ext cx="658080" cy="65808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20" name="Image 1" descr="preencoded.png"/>
          <p:cNvPicPr/>
          <p:nvPr/>
        </p:nvPicPr>
        <p:blipFill>
          <a:blip r:embed="rId2"/>
          <a:stretch/>
        </p:blipFill>
        <p:spPr>
          <a:xfrm>
            <a:off x="4711680" y="198684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Text 9"/>
          <p:cNvSpPr/>
          <p:nvPr/>
        </p:nvSpPr>
        <p:spPr>
          <a:xfrm>
            <a:off x="5376600" y="18745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B2B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4553640" y="269748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양식</a:t>
            </a:r>
            <a:r>
              <a:rPr lang="en-US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수산</a:t>
            </a:r>
            <a:r>
              <a:rPr lang="en-US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수처리 플랜트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3" name="Text 11"/>
          <p:cNvSpPr/>
          <p:nvPr/>
        </p:nvSpPr>
        <p:spPr>
          <a:xfrm>
            <a:off x="4553640" y="312732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양식장 청소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감시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스키머 등 특수목적 드론 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유지보수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4" name="Shape 12"/>
          <p:cNvSpPr/>
          <p:nvPr/>
        </p:nvSpPr>
        <p:spPr>
          <a:xfrm>
            <a:off x="8010000" y="1554480"/>
            <a:ext cx="3520080" cy="2514240"/>
          </a:xfrm>
          <a:prstGeom prst="roundRect">
            <a:avLst>
              <a:gd name="adj" fmla="val 3636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5" name="Shape 13"/>
          <p:cNvSpPr/>
          <p:nvPr/>
        </p:nvSpPr>
        <p:spPr>
          <a:xfrm>
            <a:off x="8284320" y="1828800"/>
            <a:ext cx="658080" cy="658080"/>
          </a:xfrm>
          <a:prstGeom prst="ellipse">
            <a:avLst/>
          </a:prstGeom>
          <a:solidFill>
            <a:srgbClr val="27A2A6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26" name="Image 2" descr="preencoded.png"/>
          <p:cNvPicPr/>
          <p:nvPr/>
        </p:nvPicPr>
        <p:blipFill>
          <a:blip r:embed="rId3"/>
          <a:stretch/>
        </p:blipFill>
        <p:spPr>
          <a:xfrm>
            <a:off x="8442360" y="198684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14"/>
          <p:cNvSpPr/>
          <p:nvPr/>
        </p:nvSpPr>
        <p:spPr>
          <a:xfrm>
            <a:off x="9107280" y="18745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7A2A6"/>
                </a:solidFill>
                <a:effectLst/>
                <a:uFillTx/>
                <a:latin typeface="Cambria"/>
                <a:ea typeface="Cambria"/>
              </a:rPr>
              <a:t>B2C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8" name="Text 15"/>
          <p:cNvSpPr/>
          <p:nvPr/>
        </p:nvSpPr>
        <p:spPr>
          <a:xfrm>
            <a:off x="8284320" y="269748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아쿠아리움</a:t>
            </a:r>
            <a:r>
              <a:rPr lang="en-US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어촌</a:t>
            </a:r>
            <a:r>
              <a:rPr lang="en-US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개인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9" name="Text 16"/>
          <p:cNvSpPr/>
          <p:nvPr/>
        </p:nvSpPr>
        <p:spPr>
          <a:xfrm>
            <a:off x="8284320" y="3127320"/>
            <a:ext cx="3017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소형 청소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모니터링 유닛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어장관리 — 제품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부품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·SW </a:t>
            </a:r>
            <a:r>
              <a:rPr lang="ko-KR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판매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0" name="Shape 17"/>
          <p:cNvSpPr/>
          <p:nvPr/>
        </p:nvSpPr>
        <p:spPr>
          <a:xfrm>
            <a:off x="548640" y="4297680"/>
            <a:ext cx="3520080" cy="1599840"/>
          </a:xfrm>
          <a:prstGeom prst="roundRect">
            <a:avLst>
              <a:gd name="adj" fmla="val 5714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31" name="Shape 18"/>
          <p:cNvSpPr/>
          <p:nvPr/>
        </p:nvSpPr>
        <p:spPr>
          <a:xfrm>
            <a:off x="804600" y="45262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32" name="Image 3" descr="preencoded.png"/>
          <p:cNvPicPr/>
          <p:nvPr/>
        </p:nvPicPr>
        <p:blipFill>
          <a:blip r:embed="rId4"/>
          <a:stretch/>
        </p:blipFill>
        <p:spPr>
          <a:xfrm>
            <a:off x="940680" y="4662360"/>
            <a:ext cx="294480" cy="29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 19"/>
          <p:cNvSpPr/>
          <p:nvPr/>
        </p:nvSpPr>
        <p:spPr>
          <a:xfrm>
            <a:off x="1508760" y="45536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제품 판매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4" name="Text 20"/>
          <p:cNvSpPr/>
          <p:nvPr/>
        </p:nvSpPr>
        <p:spPr>
          <a:xfrm>
            <a:off x="822960" y="516636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수동형 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천만원 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무인자율형 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3</a:t>
            </a: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천만원 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대당 예상가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5" name="Shape 21"/>
          <p:cNvSpPr/>
          <p:nvPr/>
        </p:nvSpPr>
        <p:spPr>
          <a:xfrm>
            <a:off x="4279320" y="4297680"/>
            <a:ext cx="3520080" cy="1599840"/>
          </a:xfrm>
          <a:prstGeom prst="roundRect">
            <a:avLst>
              <a:gd name="adj" fmla="val 5714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36" name="Shape 22"/>
          <p:cNvSpPr/>
          <p:nvPr/>
        </p:nvSpPr>
        <p:spPr>
          <a:xfrm>
            <a:off x="4535280" y="45262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37" name="Image 4" descr="preencoded.png"/>
          <p:cNvPicPr/>
          <p:nvPr/>
        </p:nvPicPr>
        <p:blipFill>
          <a:blip r:embed="rId5"/>
          <a:stretch/>
        </p:blipFill>
        <p:spPr>
          <a:xfrm>
            <a:off x="4671360" y="4662360"/>
            <a:ext cx="294480" cy="29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23"/>
          <p:cNvSpPr/>
          <p:nvPr/>
        </p:nvSpPr>
        <p:spPr>
          <a:xfrm>
            <a:off x="5239440" y="45536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렌탈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(RaaS)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9" name="Text 24"/>
          <p:cNvSpPr/>
          <p:nvPr/>
        </p:nvSpPr>
        <p:spPr>
          <a:xfrm>
            <a:off x="4553640" y="516636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공공조달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월 구독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청소 면적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주기 기반 과금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0" name="Shape 25"/>
          <p:cNvSpPr/>
          <p:nvPr/>
        </p:nvSpPr>
        <p:spPr>
          <a:xfrm>
            <a:off x="8010000" y="4297680"/>
            <a:ext cx="3520080" cy="1599840"/>
          </a:xfrm>
          <a:prstGeom prst="roundRect">
            <a:avLst>
              <a:gd name="adj" fmla="val 5714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41" name="Shape 26"/>
          <p:cNvSpPr/>
          <p:nvPr/>
        </p:nvSpPr>
        <p:spPr>
          <a:xfrm>
            <a:off x="8266320" y="45262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42" name="Image 5" descr="preencoded.png"/>
          <p:cNvPicPr/>
          <p:nvPr/>
        </p:nvPicPr>
        <p:blipFill>
          <a:blip r:embed="rId6"/>
          <a:stretch/>
        </p:blipFill>
        <p:spPr>
          <a:xfrm>
            <a:off x="8402400" y="4662360"/>
            <a:ext cx="294480" cy="29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27"/>
          <p:cNvSpPr/>
          <p:nvPr/>
        </p:nvSpPr>
        <p:spPr>
          <a:xfrm>
            <a:off x="8970120" y="45536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데이터 구독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4" name="Text 28"/>
          <p:cNvSpPr/>
          <p:nvPr/>
        </p:nvSpPr>
        <p:spPr>
          <a:xfrm>
            <a:off x="8284320" y="516636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수질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오염 지도 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API/</a:t>
            </a:r>
            <a:r>
              <a:rPr lang="ko-KR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대시보드 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SaaS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5" name="Text 29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6" name="Text 30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12 · </a:t>
            </a:r>
            <a:r>
              <a:rPr lang="ko-KR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매출 추정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연도별 매출 목표 시나리오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9" name="Text 2"/>
          <p:cNvSpPr/>
          <p:nvPr/>
        </p:nvSpPr>
        <p:spPr>
          <a:xfrm>
            <a:off x="548640" y="14173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제품 판매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렌탈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데이터 구독을 합산한 목표 매출 시나리오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아래 수치는 참고 벤치마크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플루톤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2028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목표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380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억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를 기반으로 한 가정치이다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0" name="Shape 3"/>
          <p:cNvSpPr/>
          <p:nvPr/>
        </p:nvSpPr>
        <p:spPr>
          <a:xfrm>
            <a:off x="548640" y="2057400"/>
            <a:ext cx="6949080" cy="3977280"/>
          </a:xfrm>
          <a:prstGeom prst="roundRect">
            <a:avLst>
              <a:gd name="adj" fmla="val 206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1" name="Text 4"/>
          <p:cNvSpPr/>
          <p:nvPr/>
        </p:nvSpPr>
        <p:spPr>
          <a:xfrm>
            <a:off x="777240" y="21762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목표 매출 시나리오 </a:t>
            </a:r>
            <a:r>
              <a:rPr lang="en-US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억원</a:t>
            </a:r>
            <a:r>
              <a:rPr lang="en-US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352" name="Chart 0"/>
          <p:cNvGraphicFramePr/>
          <p:nvPr/>
        </p:nvGraphicFramePr>
        <p:xfrm>
          <a:off x="685800" y="2560320"/>
          <a:ext cx="667476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53" name="Shape 5"/>
          <p:cNvSpPr/>
          <p:nvPr/>
        </p:nvSpPr>
        <p:spPr>
          <a:xfrm>
            <a:off x="7726680" y="2194560"/>
            <a:ext cx="3885840" cy="82260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4" name="Shape 6"/>
          <p:cNvSpPr/>
          <p:nvPr/>
        </p:nvSpPr>
        <p:spPr>
          <a:xfrm>
            <a:off x="7973640" y="2496240"/>
            <a:ext cx="219240" cy="2192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8366760" y="230436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2026 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실내 청소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MVP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상용화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첫 레퍼런스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6" name="Shape 8"/>
          <p:cNvSpPr/>
          <p:nvPr/>
        </p:nvSpPr>
        <p:spPr>
          <a:xfrm>
            <a:off x="7726680" y="3154680"/>
            <a:ext cx="3885840" cy="82260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7" name="Shape 9"/>
          <p:cNvSpPr/>
          <p:nvPr/>
        </p:nvSpPr>
        <p:spPr>
          <a:xfrm>
            <a:off x="7973640" y="3456360"/>
            <a:ext cx="219240" cy="2192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8" name="Text 10"/>
          <p:cNvSpPr/>
          <p:nvPr/>
        </p:nvSpPr>
        <p:spPr>
          <a:xfrm>
            <a:off x="8366760" y="326448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2027 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스키머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모니터링 라인 추가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렌탈 개시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9" name="Shape 11"/>
          <p:cNvSpPr/>
          <p:nvPr/>
        </p:nvSpPr>
        <p:spPr>
          <a:xfrm>
            <a:off x="7726680" y="4114800"/>
            <a:ext cx="3885840" cy="82260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0" name="Shape 12"/>
          <p:cNvSpPr/>
          <p:nvPr/>
        </p:nvSpPr>
        <p:spPr>
          <a:xfrm>
            <a:off x="7973640" y="4416480"/>
            <a:ext cx="219240" cy="219240"/>
          </a:xfrm>
          <a:prstGeom prst="ellipse">
            <a:avLst/>
          </a:prstGeom>
          <a:solidFill>
            <a:srgbClr val="27A2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1" name="Text 13"/>
          <p:cNvSpPr/>
          <p:nvPr/>
        </p:nvSpPr>
        <p:spPr>
          <a:xfrm>
            <a:off x="8366760" y="422460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2028 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다제품 확장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데이터 구독 본격화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2" name="Shape 14"/>
          <p:cNvSpPr/>
          <p:nvPr/>
        </p:nvSpPr>
        <p:spPr>
          <a:xfrm>
            <a:off x="7726680" y="5074920"/>
            <a:ext cx="3885840" cy="82260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3" name="Shape 15"/>
          <p:cNvSpPr/>
          <p:nvPr/>
        </p:nvSpPr>
        <p:spPr>
          <a:xfrm>
            <a:off x="7973640" y="5376600"/>
            <a:ext cx="219240" cy="219240"/>
          </a:xfrm>
          <a:prstGeom prst="ellipse">
            <a:avLst/>
          </a:prstGeom>
          <a:solidFill>
            <a:srgbClr val="1E60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4" name="Text 16"/>
          <p:cNvSpPr/>
          <p:nvPr/>
        </p:nvSpPr>
        <p:spPr>
          <a:xfrm>
            <a:off x="8366760" y="518472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6091"/>
                </a:solidFill>
                <a:effectLst/>
                <a:uFillTx/>
                <a:latin typeface="Calibri"/>
                <a:ea typeface="Calibri"/>
              </a:rPr>
              <a:t>2030 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연근해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해외 진출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매출 규모화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5" name="Text 17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6" name="Text 18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13 · </a:t>
            </a:r>
            <a:r>
              <a:rPr lang="ko-KR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기반 플랫폼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BlueBoat 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기반 플랫폼 표준 제원 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(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참조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369" name="Table 0"/>
          <p:cNvGraphicFramePr/>
          <p:nvPr/>
        </p:nvGraphicFramePr>
        <p:xfrm>
          <a:off x="548640" y="1417320"/>
          <a:ext cx="11063880" cy="4297320"/>
        </p:xfrm>
        <a:graphic>
          <a:graphicData uri="http://schemas.openxmlformats.org/drawingml/2006/table">
            <a:tbl>
              <a:tblPr/>
              <a:tblGrid>
                <a:gridCol w="1737360"/>
                <a:gridCol w="4846320"/>
                <a:gridCol w="4480560"/>
              </a:tblGrid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구성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채택 부품 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사양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역할 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 </a:t>
                      </a:r>
                      <a:r>
                        <a:rPr lang="ko-K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트레이드오프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</a:tr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선체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규격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BlueBoat weedless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카타마란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, 120×93×46 cm / 14.5 kg,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접이식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잡초에 강함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차량 적재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탑재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 kg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한계 → 페이로드 경량화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오토파일럿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ArduRover(ArduPilot) + Navigator FC + BlueOS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검증된 오픈소스 자율항법 → 개발기간↓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커스터마이징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·GPL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컴퓨트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Raspberry Pi 4(2GB) + BlueOS (ROS2/MOOS-IvP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확장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인지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경로계산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AI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부하 시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Jetson·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외장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NPU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확장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추진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M200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모터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×2(weedless) ·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차동추력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8.2 kgf · 3 m/s(6 kn)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수초 엉킴 방지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청소 부하↑ 시 속도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주행시간↓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항속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전원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배터리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개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18h·65 km ~ 8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개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62h·220 km (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태양광 옵션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확장으로 장시간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배터리 무게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vs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페이로드 트레이드오프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측위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(RTK)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GPS(NEO-M9N)+RTK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확장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 6-DOF IMU ·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듀얼 나침반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실외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cm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급 정밀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실내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GPS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음영은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AprilTag·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라이다 병용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라이다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카메라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RPLidar 2D +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카메라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부유물 탐지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물체 거리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방향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쓰레기 탐지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수면 반사 → 필터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튜닝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초음파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수질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Ping Sonar +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수질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Sonde(pH·DO·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수온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탁도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근거리 회피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수심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모니터링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채집 시 정지→처리량↓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480"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통신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Wi-Fi 802.11 250 m(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기본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)/800 m(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지향성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) + 4G·Iridium·Starlink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GCS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원격제어 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 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원거리는 셀룰러</a:t>
                      </a: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위성 백업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3360" marR="63360" marT="63360" marB="6336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0" name="Text 2"/>
          <p:cNvSpPr/>
          <p:nvPr/>
        </p:nvSpPr>
        <p:spPr>
          <a:xfrm>
            <a:off x="548640" y="6053400"/>
            <a:ext cx="11063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페이로드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쌍동선 사이 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100% 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탑재공간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저항파 센서 구역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)·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크로스바 마운트 활용 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소프트웨어 </a:t>
            </a:r>
            <a:r>
              <a:rPr lang="en-US" sz="9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GCS: QGroundControl / Mission Planner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1" name="Text 3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2" name="Text 4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14 · </a:t>
            </a:r>
            <a:r>
              <a:rPr lang="ko-KR" sz="12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개발 목표 제품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4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10μm 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미세부유물 수거 청소로봇 — </a:t>
            </a: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차 시제품 사양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548640" y="13168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실외 및 비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非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)GPS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실내 환경 대상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BlueBoat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기반 커스텀 함체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착탈식 스컴박스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(10μm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필터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 ·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출처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개발계획서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(2026.05)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6" name="Shape 3"/>
          <p:cNvSpPr/>
          <p:nvPr/>
        </p:nvSpPr>
        <p:spPr>
          <a:xfrm>
            <a:off x="4279320" y="1755720"/>
            <a:ext cx="3602520" cy="4041360"/>
          </a:xfrm>
          <a:prstGeom prst="roundRect">
            <a:avLst>
              <a:gd name="adj" fmla="val 3553"/>
            </a:avLst>
          </a:prstGeom>
          <a:solidFill>
            <a:srgbClr val="EAF6F6"/>
          </a:solidFill>
          <a:ln w="12700">
            <a:solidFill>
              <a:srgbClr val="CFE9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377" name="Image 0" descr="preencoded.png"/>
          <p:cNvPicPr/>
          <p:nvPr/>
        </p:nvPicPr>
        <p:blipFill>
          <a:blip r:embed="rId1"/>
          <a:stretch/>
        </p:blipFill>
        <p:spPr>
          <a:xfrm>
            <a:off x="4434840" y="1783080"/>
            <a:ext cx="329148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Shape 4"/>
          <p:cNvSpPr/>
          <p:nvPr/>
        </p:nvSpPr>
        <p:spPr>
          <a:xfrm>
            <a:off x="3309840" y="2057400"/>
            <a:ext cx="2725200" cy="274320"/>
          </a:xfrm>
          <a:prstGeom prst="line">
            <a:avLst/>
          </a:prstGeom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9" name="Shape 5"/>
          <p:cNvSpPr/>
          <p:nvPr/>
        </p:nvSpPr>
        <p:spPr>
          <a:xfrm>
            <a:off x="5989320" y="2286000"/>
            <a:ext cx="91080" cy="910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0" name="Shape 6"/>
          <p:cNvSpPr/>
          <p:nvPr/>
        </p:nvSpPr>
        <p:spPr>
          <a:xfrm>
            <a:off x="548640" y="1783080"/>
            <a:ext cx="2761200" cy="548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1" name="Shape 7"/>
          <p:cNvSpPr/>
          <p:nvPr/>
        </p:nvSpPr>
        <p:spPr>
          <a:xfrm>
            <a:off x="694800" y="199332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2" name="Text 8"/>
          <p:cNvSpPr/>
          <p:nvPr/>
        </p:nvSpPr>
        <p:spPr>
          <a:xfrm>
            <a:off x="932760" y="1810440"/>
            <a:ext cx="225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스컴박스 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 10μm </a:t>
            </a: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필터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착탈식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3" name="Shape 9"/>
          <p:cNvSpPr/>
          <p:nvPr/>
        </p:nvSpPr>
        <p:spPr>
          <a:xfrm flipV="1">
            <a:off x="3309840" y="2413800"/>
            <a:ext cx="2633760" cy="347400"/>
          </a:xfrm>
          <a:prstGeom prst="line">
            <a:avLst/>
          </a:prstGeom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4" name="Shape 10"/>
          <p:cNvSpPr/>
          <p:nvPr/>
        </p:nvSpPr>
        <p:spPr>
          <a:xfrm>
            <a:off x="5897880" y="2368440"/>
            <a:ext cx="91080" cy="910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5" name="Shape 11"/>
          <p:cNvSpPr/>
          <p:nvPr/>
        </p:nvSpPr>
        <p:spPr>
          <a:xfrm>
            <a:off x="548640" y="2487240"/>
            <a:ext cx="2761200" cy="548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6" name="Shape 12"/>
          <p:cNvSpPr/>
          <p:nvPr/>
        </p:nvSpPr>
        <p:spPr>
          <a:xfrm>
            <a:off x="694800" y="269748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7" name="Text 13"/>
          <p:cNvSpPr/>
          <p:nvPr/>
        </p:nvSpPr>
        <p:spPr>
          <a:xfrm>
            <a:off x="932760" y="2514600"/>
            <a:ext cx="225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임펠러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(Flat turbine) </a:t>
            </a: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스컴 유입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8" name="Shape 14"/>
          <p:cNvSpPr/>
          <p:nvPr/>
        </p:nvSpPr>
        <p:spPr>
          <a:xfrm flipV="1">
            <a:off x="3309840" y="2816280"/>
            <a:ext cx="2268000" cy="658440"/>
          </a:xfrm>
          <a:prstGeom prst="line">
            <a:avLst/>
          </a:prstGeom>
          <a:ln w="15875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9" name="Shape 15"/>
          <p:cNvSpPr/>
          <p:nvPr/>
        </p:nvSpPr>
        <p:spPr>
          <a:xfrm>
            <a:off x="5532120" y="2770560"/>
            <a:ext cx="91080" cy="910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0" name="Shape 16"/>
          <p:cNvSpPr/>
          <p:nvPr/>
        </p:nvSpPr>
        <p:spPr>
          <a:xfrm>
            <a:off x="548640" y="3231720"/>
            <a:ext cx="2761200" cy="548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065A82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1" name="Shape 17"/>
          <p:cNvSpPr/>
          <p:nvPr/>
        </p:nvSpPr>
        <p:spPr>
          <a:xfrm>
            <a:off x="694800" y="3410640"/>
            <a:ext cx="127800" cy="1278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2" name="Text 18"/>
          <p:cNvSpPr/>
          <p:nvPr/>
        </p:nvSpPr>
        <p:spPr>
          <a:xfrm>
            <a:off x="932760" y="3227760"/>
            <a:ext cx="225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WIFI </a:t>
            </a: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안테나 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원격 통신 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200 m↑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3" name="Shape 19"/>
          <p:cNvSpPr/>
          <p:nvPr/>
        </p:nvSpPr>
        <p:spPr>
          <a:xfrm>
            <a:off x="3309840" y="5166360"/>
            <a:ext cx="2011680" cy="246600"/>
          </a:xfrm>
          <a:prstGeom prst="line">
            <a:avLst/>
          </a:prstGeom>
          <a:ln w="15875">
            <a:solidFill>
              <a:srgbClr val="1E60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4" name="Shape 20"/>
          <p:cNvSpPr/>
          <p:nvPr/>
        </p:nvSpPr>
        <p:spPr>
          <a:xfrm>
            <a:off x="5276160" y="5367600"/>
            <a:ext cx="91080" cy="91080"/>
          </a:xfrm>
          <a:prstGeom prst="ellipse">
            <a:avLst/>
          </a:prstGeom>
          <a:solidFill>
            <a:srgbClr val="1E60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5" name="Shape 21"/>
          <p:cNvSpPr/>
          <p:nvPr/>
        </p:nvSpPr>
        <p:spPr>
          <a:xfrm>
            <a:off x="548640" y="4892040"/>
            <a:ext cx="2761200" cy="548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1E6091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6" name="Shape 22"/>
          <p:cNvSpPr/>
          <p:nvPr/>
        </p:nvSpPr>
        <p:spPr>
          <a:xfrm>
            <a:off x="694800" y="5102280"/>
            <a:ext cx="127800" cy="127800"/>
          </a:xfrm>
          <a:prstGeom prst="ellipse">
            <a:avLst/>
          </a:prstGeom>
          <a:solidFill>
            <a:srgbClr val="1E60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7" name="Text 23"/>
          <p:cNvSpPr/>
          <p:nvPr/>
        </p:nvSpPr>
        <p:spPr>
          <a:xfrm>
            <a:off x="932760" y="4919400"/>
            <a:ext cx="225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T500 </a:t>
            </a: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스러스터 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×2 · 10.5 kgf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8" name="Shape 24"/>
          <p:cNvSpPr/>
          <p:nvPr/>
        </p:nvSpPr>
        <p:spPr>
          <a:xfrm flipV="1">
            <a:off x="6263640" y="2240280"/>
            <a:ext cx="2615040" cy="886680"/>
          </a:xfrm>
          <a:prstGeom prst="line">
            <a:avLst/>
          </a:prstGeom>
          <a:ln w="15875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9" name="Shape 25"/>
          <p:cNvSpPr/>
          <p:nvPr/>
        </p:nvSpPr>
        <p:spPr>
          <a:xfrm>
            <a:off x="6217920" y="3081600"/>
            <a:ext cx="91080" cy="910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0" name="Shape 26"/>
          <p:cNvSpPr/>
          <p:nvPr/>
        </p:nvSpPr>
        <p:spPr>
          <a:xfrm>
            <a:off x="8878680" y="1965960"/>
            <a:ext cx="2761200" cy="548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065A82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1" name="Shape 27"/>
          <p:cNvSpPr/>
          <p:nvPr/>
        </p:nvSpPr>
        <p:spPr>
          <a:xfrm>
            <a:off x="9025200" y="2176200"/>
            <a:ext cx="127800" cy="1278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2" name="Text 28"/>
          <p:cNvSpPr/>
          <p:nvPr/>
        </p:nvSpPr>
        <p:spPr>
          <a:xfrm>
            <a:off x="9262800" y="1993320"/>
            <a:ext cx="225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RPLiDAR S2L · </a:t>
            </a: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장애물 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0.5~8 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3" name="Shape 29"/>
          <p:cNvSpPr/>
          <p:nvPr/>
        </p:nvSpPr>
        <p:spPr>
          <a:xfrm>
            <a:off x="6263640" y="2926080"/>
            <a:ext cx="2615040" cy="91440"/>
          </a:xfrm>
          <a:prstGeom prst="line">
            <a:avLst/>
          </a:prstGeom>
          <a:ln w="15875">
            <a:solidFill>
              <a:srgbClr val="27A2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4" name="Shape 30"/>
          <p:cNvSpPr/>
          <p:nvPr/>
        </p:nvSpPr>
        <p:spPr>
          <a:xfrm>
            <a:off x="6217920" y="2880360"/>
            <a:ext cx="91080" cy="91080"/>
          </a:xfrm>
          <a:prstGeom prst="ellipse">
            <a:avLst/>
          </a:prstGeom>
          <a:solidFill>
            <a:srgbClr val="27A2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5" name="Shape 31"/>
          <p:cNvSpPr/>
          <p:nvPr/>
        </p:nvSpPr>
        <p:spPr>
          <a:xfrm>
            <a:off x="8878680" y="2743200"/>
            <a:ext cx="2761200" cy="548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27A2A6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6" name="Shape 32"/>
          <p:cNvSpPr/>
          <p:nvPr/>
        </p:nvSpPr>
        <p:spPr>
          <a:xfrm>
            <a:off x="9025200" y="2953440"/>
            <a:ext cx="127800" cy="127800"/>
          </a:xfrm>
          <a:prstGeom prst="ellipse">
            <a:avLst/>
          </a:prstGeom>
          <a:solidFill>
            <a:srgbClr val="27A2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7" name="Text 33"/>
          <p:cNvSpPr/>
          <p:nvPr/>
        </p:nvSpPr>
        <p:spPr>
          <a:xfrm>
            <a:off x="9262800" y="2770560"/>
            <a:ext cx="225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Camera · Logitech C930E (FHD)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8" name="Shape 34"/>
          <p:cNvSpPr/>
          <p:nvPr/>
        </p:nvSpPr>
        <p:spPr>
          <a:xfrm>
            <a:off x="6309360" y="3876840"/>
            <a:ext cx="2569320" cy="55080"/>
          </a:xfrm>
          <a:prstGeom prst="line">
            <a:avLst/>
          </a:prstGeom>
          <a:ln w="15875">
            <a:solidFill>
              <a:srgbClr val="1E60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9" name="Shape 35"/>
          <p:cNvSpPr/>
          <p:nvPr/>
        </p:nvSpPr>
        <p:spPr>
          <a:xfrm>
            <a:off x="6263640" y="3831480"/>
            <a:ext cx="91080" cy="91080"/>
          </a:xfrm>
          <a:prstGeom prst="ellipse">
            <a:avLst/>
          </a:prstGeom>
          <a:solidFill>
            <a:srgbClr val="1E60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0" name="Shape 36"/>
          <p:cNvSpPr/>
          <p:nvPr/>
        </p:nvSpPr>
        <p:spPr>
          <a:xfrm>
            <a:off x="8878680" y="3657600"/>
            <a:ext cx="2761200" cy="548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1E6091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1" name="Shape 37"/>
          <p:cNvSpPr/>
          <p:nvPr/>
        </p:nvSpPr>
        <p:spPr>
          <a:xfrm>
            <a:off x="9025200" y="3867840"/>
            <a:ext cx="127800" cy="127800"/>
          </a:xfrm>
          <a:prstGeom prst="ellipse">
            <a:avLst/>
          </a:prstGeom>
          <a:solidFill>
            <a:srgbClr val="1E60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2" name="Text 38"/>
          <p:cNvSpPr/>
          <p:nvPr/>
        </p:nvSpPr>
        <p:spPr>
          <a:xfrm>
            <a:off x="9262800" y="3684960"/>
            <a:ext cx="225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배터리 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24V 15A ×2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3" name="Shape 39"/>
          <p:cNvSpPr/>
          <p:nvPr/>
        </p:nvSpPr>
        <p:spPr>
          <a:xfrm>
            <a:off x="7223760" y="4023360"/>
            <a:ext cx="1654920" cy="960120"/>
          </a:xfrm>
          <a:prstGeom prst="line">
            <a:avLst/>
          </a:prstGeom>
          <a:ln w="15875">
            <a:solidFill>
              <a:srgbClr val="1428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4" name="Shape 40"/>
          <p:cNvSpPr/>
          <p:nvPr/>
        </p:nvSpPr>
        <p:spPr>
          <a:xfrm>
            <a:off x="7178040" y="3977640"/>
            <a:ext cx="91080" cy="91080"/>
          </a:xfrm>
          <a:prstGeom prst="ellipse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5" name="Shape 41"/>
          <p:cNvSpPr/>
          <p:nvPr/>
        </p:nvSpPr>
        <p:spPr>
          <a:xfrm>
            <a:off x="8878680" y="4709160"/>
            <a:ext cx="2761200" cy="548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142850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6" name="Shape 42"/>
          <p:cNvSpPr/>
          <p:nvPr/>
        </p:nvSpPr>
        <p:spPr>
          <a:xfrm>
            <a:off x="9025200" y="4919400"/>
            <a:ext cx="127800" cy="127800"/>
          </a:xfrm>
          <a:prstGeom prst="ellipse">
            <a:avLst/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7" name="Text 43"/>
          <p:cNvSpPr/>
          <p:nvPr/>
        </p:nvSpPr>
        <p:spPr>
          <a:xfrm>
            <a:off x="9262800" y="4736520"/>
            <a:ext cx="225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함체 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160×140×55 cm · </a:t>
            </a: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약 </a:t>
            </a: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80 kg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8" name="Shape 44"/>
          <p:cNvSpPr/>
          <p:nvPr/>
        </p:nvSpPr>
        <p:spPr>
          <a:xfrm>
            <a:off x="548640" y="5943600"/>
            <a:ext cx="1773720" cy="402120"/>
          </a:xfrm>
          <a:prstGeom prst="roundRect">
            <a:avLst>
              <a:gd name="adj" fmla="val 13636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9" name="Text 45"/>
          <p:cNvSpPr/>
          <p:nvPr/>
        </p:nvSpPr>
        <p:spPr>
          <a:xfrm>
            <a:off x="585360" y="5943600"/>
            <a:ext cx="1700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운용 </a:t>
            </a: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</a:t>
            </a: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시간 이상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0" name="Shape 46"/>
          <p:cNvSpPr/>
          <p:nvPr/>
        </p:nvSpPr>
        <p:spPr>
          <a:xfrm>
            <a:off x="2392920" y="5943600"/>
            <a:ext cx="1773720" cy="402120"/>
          </a:xfrm>
          <a:prstGeom prst="roundRect">
            <a:avLst>
              <a:gd name="adj" fmla="val 13636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21" name="Text 47"/>
          <p:cNvSpPr/>
          <p:nvPr/>
        </p:nvSpPr>
        <p:spPr>
          <a:xfrm>
            <a:off x="2429640" y="5943600"/>
            <a:ext cx="1700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속도 </a:t>
            </a: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0.1~0.5 m/s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2" name="Shape 48"/>
          <p:cNvSpPr/>
          <p:nvPr/>
        </p:nvSpPr>
        <p:spPr>
          <a:xfrm>
            <a:off x="4237200" y="5943600"/>
            <a:ext cx="1773720" cy="402120"/>
          </a:xfrm>
          <a:prstGeom prst="roundRect">
            <a:avLst>
              <a:gd name="adj" fmla="val 13636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23" name="Text 49"/>
          <p:cNvSpPr/>
          <p:nvPr/>
        </p:nvSpPr>
        <p:spPr>
          <a:xfrm>
            <a:off x="4273920" y="5943600"/>
            <a:ext cx="1700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스캔 </a:t>
            </a: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300×16 m↑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4" name="Shape 50"/>
          <p:cNvSpPr/>
          <p:nvPr/>
        </p:nvSpPr>
        <p:spPr>
          <a:xfrm>
            <a:off x="6081840" y="5943600"/>
            <a:ext cx="1773720" cy="402120"/>
          </a:xfrm>
          <a:prstGeom prst="roundRect">
            <a:avLst>
              <a:gd name="adj" fmla="val 13636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25" name="Text 51"/>
          <p:cNvSpPr/>
          <p:nvPr/>
        </p:nvSpPr>
        <p:spPr>
          <a:xfrm>
            <a:off x="6118200" y="5943600"/>
            <a:ext cx="1700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위치오차 </a:t>
            </a: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±30 cm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6" name="Shape 52"/>
          <p:cNvSpPr/>
          <p:nvPr/>
        </p:nvSpPr>
        <p:spPr>
          <a:xfrm>
            <a:off x="7926120" y="5943600"/>
            <a:ext cx="1773720" cy="402120"/>
          </a:xfrm>
          <a:prstGeom prst="roundRect">
            <a:avLst>
              <a:gd name="adj" fmla="val 13636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27" name="Text 53"/>
          <p:cNvSpPr/>
          <p:nvPr/>
        </p:nvSpPr>
        <p:spPr>
          <a:xfrm>
            <a:off x="7962480" y="5943600"/>
            <a:ext cx="1700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자율복귀 도킹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8" name="Shape 54"/>
          <p:cNvSpPr/>
          <p:nvPr/>
        </p:nvSpPr>
        <p:spPr>
          <a:xfrm>
            <a:off x="9770400" y="5943600"/>
            <a:ext cx="1773720" cy="402120"/>
          </a:xfrm>
          <a:prstGeom prst="roundRect">
            <a:avLst>
              <a:gd name="adj" fmla="val 13636"/>
            </a:avLst>
          </a:prstGeom>
          <a:solidFill>
            <a:srgbClr val="1428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29" name="Text 55"/>
          <p:cNvSpPr/>
          <p:nvPr/>
        </p:nvSpPr>
        <p:spPr>
          <a:xfrm>
            <a:off x="9807120" y="5943600"/>
            <a:ext cx="1700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포집 </a:t>
            </a: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10μm↑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0" name="Text 56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1" name="Text 57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2" name="Shape 33"/>
          <p:cNvSpPr/>
          <p:nvPr/>
        </p:nvSpPr>
        <p:spPr>
          <a:xfrm>
            <a:off x="540000" y="3960000"/>
            <a:ext cx="2761200" cy="548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065A82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3" name="Text 34"/>
          <p:cNvSpPr/>
          <p:nvPr/>
        </p:nvSpPr>
        <p:spPr>
          <a:xfrm>
            <a:off x="981720" y="3998160"/>
            <a:ext cx="225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RTK GPS 5m </a:t>
            </a:r>
            <a:r>
              <a:rPr lang="ko-KR" sz="1100" b="1" u="none" strike="noStrike">
                <a:solidFill>
                  <a:srgbClr val="142850"/>
                </a:solidFill>
                <a:effectLst/>
                <a:uFillTx/>
                <a:latin typeface="Calibri"/>
                <a:ea typeface="Calibri"/>
              </a:rPr>
              <a:t>위치 정혹도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4" name="Shape 38"/>
          <p:cNvSpPr/>
          <p:nvPr/>
        </p:nvSpPr>
        <p:spPr>
          <a:xfrm flipV="1">
            <a:off x="3301200" y="2816640"/>
            <a:ext cx="2276640" cy="1323360"/>
          </a:xfrm>
          <a:prstGeom prst="line">
            <a:avLst/>
          </a:prstGeom>
          <a:ln w="15875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 0"/>
          <p:cNvSpPr/>
          <p:nvPr/>
        </p:nvSpPr>
        <p:spPr>
          <a:xfrm>
            <a:off x="548640" y="45720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15 · </a:t>
            </a:r>
            <a:r>
              <a:rPr lang="ko-KR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개발 방향 </a:t>
            </a:r>
            <a:r>
              <a:rPr lang="en-US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&amp; </a:t>
            </a:r>
            <a:r>
              <a:rPr lang="ko-KR" sz="1200" b="1" u="none" spc="300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방법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6" name="Text 1"/>
          <p:cNvSpPr/>
          <p:nvPr/>
        </p:nvSpPr>
        <p:spPr>
          <a:xfrm>
            <a:off x="548640" y="74988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MVP </a:t>
            </a:r>
            <a:r>
              <a:rPr lang="ko-KR" sz="2800" b="1" u="none" strike="noStrike">
                <a:solidFill>
                  <a:srgbClr val="142850"/>
                </a:solidFill>
                <a:effectLst/>
                <a:uFillTx/>
                <a:latin typeface="Cambria"/>
                <a:ea typeface="Cambria"/>
              </a:rPr>
              <a:t>우선 — 단계적 자율화 로드맵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7" name="Text 2"/>
          <p:cNvSpPr/>
          <p:nvPr/>
        </p:nvSpPr>
        <p:spPr>
          <a:xfrm>
            <a:off x="548640" y="137160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가장 단순한 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ko-KR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실내 수조 자율 청소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»</a:t>
            </a:r>
            <a:r>
              <a:rPr lang="ko-KR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를 먼저 동작시키고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검증된 축을 하나씩 확장한다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각 단계는 실제 운용 검증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(field test)</a:t>
            </a:r>
            <a:r>
              <a:rPr lang="ko-KR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을 통과해야 다음으로 진행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8" name="Shape 3"/>
          <p:cNvSpPr/>
          <p:nvPr/>
        </p:nvSpPr>
        <p:spPr>
          <a:xfrm>
            <a:off x="548640" y="2148840"/>
            <a:ext cx="3520080" cy="39772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9" name="Shape 4"/>
          <p:cNvSpPr/>
          <p:nvPr/>
        </p:nvSpPr>
        <p:spPr>
          <a:xfrm>
            <a:off x="548640" y="2148840"/>
            <a:ext cx="3520080" cy="86832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40" name="Shape 5"/>
          <p:cNvSpPr/>
          <p:nvPr/>
        </p:nvSpPr>
        <p:spPr>
          <a:xfrm>
            <a:off x="548640" y="2697480"/>
            <a:ext cx="3520080" cy="3196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41" name="Text 6"/>
          <p:cNvSpPr/>
          <p:nvPr/>
        </p:nvSpPr>
        <p:spPr>
          <a:xfrm>
            <a:off x="822960" y="226764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Phase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2" name="Text 7"/>
          <p:cNvSpPr/>
          <p:nvPr/>
        </p:nvSpPr>
        <p:spPr>
          <a:xfrm>
            <a:off x="822960" y="25603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실내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MVP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3" name="Text 8"/>
          <p:cNvSpPr/>
          <p:nvPr/>
        </p:nvSpPr>
        <p:spPr>
          <a:xfrm>
            <a:off x="841320" y="3246120"/>
            <a:ext cx="306288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177840" indent="-177840" defTabSz="914400">
              <a:lnSpc>
                <a:spcPts val="1599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ArduRover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기반 수동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자율 항법 셋업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사각 수조 경계 인식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AprilTag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측위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청소 페이로드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종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QGC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텔레메트리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4" name="Shape 9"/>
          <p:cNvSpPr/>
          <p:nvPr/>
        </p:nvSpPr>
        <p:spPr>
          <a:xfrm>
            <a:off x="804600" y="5440680"/>
            <a:ext cx="3017160" cy="548280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5" name="Text 10"/>
          <p:cNvSpPr/>
          <p:nvPr/>
        </p:nvSpPr>
        <p:spPr>
          <a:xfrm>
            <a:off x="896040" y="5468040"/>
            <a:ext cx="2880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ko-KR" sz="1100" b="1" i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목표</a:t>
            </a:r>
            <a:r>
              <a:rPr lang="en-US" sz="1100" b="1" i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ko-KR" sz="1100" b="1" i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폐쇄수역 자율 청소 데모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6" name="Text 11"/>
          <p:cNvSpPr/>
          <p:nvPr/>
        </p:nvSpPr>
        <p:spPr>
          <a:xfrm>
            <a:off x="4041720" y="37490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7" name="Shape 12"/>
          <p:cNvSpPr/>
          <p:nvPr/>
        </p:nvSpPr>
        <p:spPr>
          <a:xfrm>
            <a:off x="4279320" y="2148840"/>
            <a:ext cx="3520080" cy="39772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8" name="Shape 13"/>
          <p:cNvSpPr/>
          <p:nvPr/>
        </p:nvSpPr>
        <p:spPr>
          <a:xfrm>
            <a:off x="4279320" y="2148840"/>
            <a:ext cx="3520080" cy="86832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49" name="Shape 14"/>
          <p:cNvSpPr/>
          <p:nvPr/>
        </p:nvSpPr>
        <p:spPr>
          <a:xfrm>
            <a:off x="4279320" y="2697480"/>
            <a:ext cx="3520080" cy="31968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0" name="Text 15"/>
          <p:cNvSpPr/>
          <p:nvPr/>
        </p:nvSpPr>
        <p:spPr>
          <a:xfrm>
            <a:off x="4553640" y="226764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Phase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1" name="Text 16"/>
          <p:cNvSpPr/>
          <p:nvPr/>
        </p:nvSpPr>
        <p:spPr>
          <a:xfrm>
            <a:off x="4553640" y="25603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인지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모니터링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2" name="Text 17"/>
          <p:cNvSpPr/>
          <p:nvPr/>
        </p:nvSpPr>
        <p:spPr>
          <a:xfrm>
            <a:off x="4572000" y="3246120"/>
            <a:ext cx="306288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177840" indent="-177840" defTabSz="914400">
              <a:lnSpc>
                <a:spcPts val="1599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카메라 객체탐지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쓰레기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 + Lidar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융합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수질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Sonde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통합 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면단위 지도화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스키머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모니터링 제품 파생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3" name="Shape 18"/>
          <p:cNvSpPr/>
          <p:nvPr/>
        </p:nvSpPr>
        <p:spPr>
          <a:xfrm>
            <a:off x="4535280" y="5440680"/>
            <a:ext cx="3017160" cy="548280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4" name="Text 19"/>
          <p:cNvSpPr/>
          <p:nvPr/>
        </p:nvSpPr>
        <p:spPr>
          <a:xfrm>
            <a:off x="4626720" y="5468040"/>
            <a:ext cx="2880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ko-KR" sz="1100" b="1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목표</a:t>
            </a:r>
            <a:r>
              <a:rPr lang="en-US" sz="1100" b="1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ko-KR" sz="1100" b="1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통합 플랫폼 실증</a:t>
            </a:r>
            <a:r>
              <a:rPr lang="en-US" sz="1100" b="1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100" b="1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저수지</a:t>
            </a:r>
            <a:r>
              <a:rPr lang="en-US" sz="1100" b="1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5" name="Text 20"/>
          <p:cNvSpPr/>
          <p:nvPr/>
        </p:nvSpPr>
        <p:spPr>
          <a:xfrm>
            <a:off x="7772400" y="37490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6" name="Shape 21"/>
          <p:cNvSpPr/>
          <p:nvPr/>
        </p:nvSpPr>
        <p:spPr>
          <a:xfrm>
            <a:off x="8010000" y="2148840"/>
            <a:ext cx="3520080" cy="39772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7" name="Shape 22"/>
          <p:cNvSpPr/>
          <p:nvPr/>
        </p:nvSpPr>
        <p:spPr>
          <a:xfrm>
            <a:off x="8010000" y="2148840"/>
            <a:ext cx="3520080" cy="868320"/>
          </a:xfrm>
          <a:prstGeom prst="roundRect">
            <a:avLst>
              <a:gd name="adj" fmla="val 10526"/>
            </a:avLst>
          </a:prstGeom>
          <a:solidFill>
            <a:srgbClr val="27A2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8" name="Shape 23"/>
          <p:cNvSpPr/>
          <p:nvPr/>
        </p:nvSpPr>
        <p:spPr>
          <a:xfrm>
            <a:off x="8010000" y="2697480"/>
            <a:ext cx="3520080" cy="319680"/>
          </a:xfrm>
          <a:prstGeom prst="rect">
            <a:avLst/>
          </a:prstGeom>
          <a:solidFill>
            <a:srgbClr val="27A2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9" name="Text 24"/>
          <p:cNvSpPr/>
          <p:nvPr/>
        </p:nvSpPr>
        <p:spPr>
          <a:xfrm>
            <a:off x="8284320" y="226764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Phase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0" name="Text 25"/>
          <p:cNvSpPr/>
          <p:nvPr/>
        </p:nvSpPr>
        <p:spPr>
          <a:xfrm>
            <a:off x="8284320" y="25603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실외 확장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1" name="Text 26"/>
          <p:cNvSpPr/>
          <p:nvPr/>
        </p:nvSpPr>
        <p:spPr>
          <a:xfrm>
            <a:off x="8302680" y="3246120"/>
            <a:ext cx="306288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177840" indent="-177840" defTabSz="914400">
              <a:lnSpc>
                <a:spcPts val="1599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RTK-GPS·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태양광 실외형 파생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4G/Starlink 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원거리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·Geo-Fence·RTH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ts val="1599"/>
              </a:lnSpc>
              <a:spcAft>
                <a:spcPts val="7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다제품 라인업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판매</a:t>
            </a: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lang="ko-KR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렌탈 상용화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2" name="Shape 27"/>
          <p:cNvSpPr/>
          <p:nvPr/>
        </p:nvSpPr>
        <p:spPr>
          <a:xfrm>
            <a:off x="8266320" y="5440680"/>
            <a:ext cx="3017160" cy="548280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3" name="Text 28"/>
          <p:cNvSpPr/>
          <p:nvPr/>
        </p:nvSpPr>
        <p:spPr>
          <a:xfrm>
            <a:off x="8357760" y="5468040"/>
            <a:ext cx="2880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ko-KR" sz="1100" b="1" i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목표</a:t>
            </a:r>
            <a:r>
              <a:rPr lang="en-US" sz="1100" b="1" i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ko-KR" sz="1100" b="1" i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연근해</a:t>
            </a:r>
            <a:r>
              <a:rPr lang="en-US" sz="1100" b="1" i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100" b="1" i="1" u="none" strike="noStrike">
                <a:solidFill>
                  <a:srgbClr val="27A2A6"/>
                </a:solidFill>
                <a:effectLst/>
                <a:uFillTx/>
                <a:latin typeface="Calibri"/>
                <a:ea typeface="Calibri"/>
              </a:rPr>
              <a:t>항만 상용화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4" name="Text 29"/>
          <p:cNvSpPr/>
          <p:nvPr/>
        </p:nvSpPr>
        <p:spPr>
          <a:xfrm>
            <a:off x="45720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AQUA-X | </a:t>
            </a:r>
            <a:r>
              <a:rPr lang="ko-KR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자율주행 수상 드론 통합 플랫폼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5" name="Text 30"/>
          <p:cNvSpPr/>
          <p:nvPr/>
        </p:nvSpPr>
        <p:spPr>
          <a:xfrm>
            <a:off x="113385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0"/>
          <p:cNvSpPr/>
          <p:nvPr/>
        </p:nvSpPr>
        <p:spPr>
          <a:xfrm>
            <a:off x="0" y="5852160"/>
            <a:ext cx="12188520" cy="1005480"/>
          </a:xfrm>
          <a:prstGeom prst="rect">
            <a:avLst/>
          </a:prstGeom>
          <a:solidFill>
            <a:srgbClr val="065A82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731520" y="7772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기대 효과 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&amp; </a:t>
            </a:r>
            <a:r>
              <a:rPr lang="ko-KR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다음 단계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8" name="Text 2"/>
          <p:cNvSpPr/>
          <p:nvPr/>
        </p:nvSpPr>
        <p:spPr>
          <a:xfrm>
            <a:off x="749880" y="14630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자율주행 통합 수상 드론이 만드는 가치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9" name="Shape 3"/>
          <p:cNvSpPr/>
          <p:nvPr/>
        </p:nvSpPr>
        <p:spPr>
          <a:xfrm>
            <a:off x="731520" y="2331720"/>
            <a:ext cx="3382920" cy="2422800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0" name="Shape 4"/>
          <p:cNvSpPr/>
          <p:nvPr/>
        </p:nvSpPr>
        <p:spPr>
          <a:xfrm>
            <a:off x="1005840" y="2606040"/>
            <a:ext cx="658080" cy="65808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471" name="Image 0" descr="preencoded.png"/>
          <p:cNvPicPr/>
          <p:nvPr/>
        </p:nvPicPr>
        <p:blipFill>
          <a:blip r:embed="rId1"/>
          <a:stretch/>
        </p:blipFill>
        <p:spPr>
          <a:xfrm>
            <a:off x="1163880" y="276408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Text 5"/>
          <p:cNvSpPr/>
          <p:nvPr/>
        </p:nvSpPr>
        <p:spPr>
          <a:xfrm>
            <a:off x="1005840" y="34016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운영비</a:t>
            </a: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·</a:t>
            </a:r>
            <a:r>
              <a:rPr lang="ko-KR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위험 절감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3" name="Text 6"/>
          <p:cNvSpPr/>
          <p:nvPr/>
        </p:nvSpPr>
        <p:spPr>
          <a:xfrm>
            <a:off x="1005840" y="388620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수작업 대체로 인건비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안전사고 감소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장시간 반복 청소 가능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4" name="Shape 7"/>
          <p:cNvSpPr/>
          <p:nvPr/>
        </p:nvSpPr>
        <p:spPr>
          <a:xfrm>
            <a:off x="4389120" y="2331720"/>
            <a:ext cx="3382920" cy="2422800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5" name="Shape 8"/>
          <p:cNvSpPr/>
          <p:nvPr/>
        </p:nvSpPr>
        <p:spPr>
          <a:xfrm>
            <a:off x="4663440" y="2606040"/>
            <a:ext cx="658080" cy="65808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476" name="Image 1" descr="preencoded.png"/>
          <p:cNvPicPr/>
          <p:nvPr/>
        </p:nvPicPr>
        <p:blipFill>
          <a:blip r:embed="rId2"/>
          <a:stretch/>
        </p:blipFill>
        <p:spPr>
          <a:xfrm>
            <a:off x="4821480" y="276408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Text 9"/>
          <p:cNvSpPr/>
          <p:nvPr/>
        </p:nvSpPr>
        <p:spPr>
          <a:xfrm>
            <a:off x="4663440" y="34016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데이터 자산화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8" name="Text 10"/>
          <p:cNvSpPr/>
          <p:nvPr/>
        </p:nvSpPr>
        <p:spPr>
          <a:xfrm>
            <a:off x="4663440" y="388620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면 단위 수질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오염 지도로 예측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정책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연구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구독 매출 창출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9" name="Shape 11"/>
          <p:cNvSpPr/>
          <p:nvPr/>
        </p:nvSpPr>
        <p:spPr>
          <a:xfrm>
            <a:off x="8046720" y="2331720"/>
            <a:ext cx="3382920" cy="2422800"/>
          </a:xfrm>
          <a:prstGeom prst="roundRect">
            <a:avLst>
              <a:gd name="adj" fmla="val 3774"/>
            </a:avLst>
          </a:prstGeom>
          <a:solidFill>
            <a:srgbClr val="1B3A6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0" name="Shape 12"/>
          <p:cNvSpPr/>
          <p:nvPr/>
        </p:nvSpPr>
        <p:spPr>
          <a:xfrm>
            <a:off x="8321040" y="2606040"/>
            <a:ext cx="658080" cy="658080"/>
          </a:xfrm>
          <a:prstGeom prst="ellipse">
            <a:avLst/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481" name="Image 2" descr="preencoded.png"/>
          <p:cNvPicPr/>
          <p:nvPr/>
        </p:nvPicPr>
        <p:blipFill>
          <a:blip r:embed="rId3"/>
          <a:stretch/>
        </p:blipFill>
        <p:spPr>
          <a:xfrm>
            <a:off x="8479080" y="276408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2" name="Text 13"/>
          <p:cNvSpPr/>
          <p:nvPr/>
        </p:nvSpPr>
        <p:spPr>
          <a:xfrm>
            <a:off x="8321040" y="34016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확장형 플랫폼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3" name="Text 14"/>
          <p:cNvSpPr/>
          <p:nvPr/>
        </p:nvSpPr>
        <p:spPr>
          <a:xfrm>
            <a:off x="8321040" y="388620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BlueBoat·ArduRover 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오픈소스로 다제품</a:t>
            </a: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실내→연근해 확장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4" name="Text 15"/>
          <p:cNvSpPr/>
          <p:nvPr/>
        </p:nvSpPr>
        <p:spPr>
          <a:xfrm>
            <a:off x="731520" y="60350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Next 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1 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실내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MVP 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착수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파일럿 파트너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양식장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아쿠아리움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발굴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R&amp;D </a:t>
            </a:r>
            <a:r>
              <a:rPr lang="ko-K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과제화로 개발비 확보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LibreOffice/26.2.4.2$Windows_X86_64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2026-07-05T01:14:56Z</dcterms:created>
  <dc:creator>nullcha</dc:creator>
  <dc:description/>
  <dc:language>ko-KR</dc:language>
  <cp:lastModifiedBy/>
  <dcterms:modified xsi:type="dcterms:W3CDTF">2026-07-05T10:27:01Z</dcterms:modified>
  <cp:revision>2</cp:revision>
  <dc:subject>PptxGenJS Presentation</dc:subject>
  <dc:title>자율주행 수상 드론 사업계획서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