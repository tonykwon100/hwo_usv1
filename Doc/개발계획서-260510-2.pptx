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>
    <p:restoredLeft sz="15497"/>
    <p:restoredTop sz="94971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56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1151619" y="4761148"/>
            <a:ext cx="7992381" cy="155523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3200" b="1"/>
              <a:t>실외 및 비</a:t>
            </a:r>
            <a:r>
              <a:rPr lang="en-US" altLang="ko-KR" sz="3200" b="1"/>
              <a:t>GPS</a:t>
            </a:r>
            <a:r>
              <a:rPr lang="ko-KR" altLang="en-US" sz="3200" b="1"/>
              <a:t> 실내 환경</a:t>
            </a:r>
            <a:endParaRPr lang="ko-KR" altLang="en-US" sz="3200" b="1"/>
          </a:p>
          <a:p>
            <a:pPr>
              <a:defRPr lang="ko-KR" altLang="en-US"/>
            </a:pPr>
            <a:r>
              <a:rPr lang="ko-KR" altLang="en-US" sz="3200" b="1"/>
              <a:t>10</a:t>
            </a:r>
            <a:r>
              <a:rPr lang="en-US" altLang="ko-KR" sz="3200" b="1"/>
              <a:t>um </a:t>
            </a:r>
            <a:r>
              <a:rPr lang="ko-KR" altLang="en-US" sz="3200" b="1"/>
              <a:t>미세 부유물 자동 수거를 위한</a:t>
            </a:r>
            <a:endParaRPr lang="ko-KR" altLang="en-US" sz="3200" b="1"/>
          </a:p>
          <a:p>
            <a:pPr>
              <a:defRPr lang="ko-KR" altLang="en-US"/>
            </a:pPr>
            <a:r>
              <a:rPr lang="ko-KR" altLang="en-US" sz="3200" b="1"/>
              <a:t>무인자율 수상 청소로봇</a:t>
            </a:r>
            <a:endParaRPr lang="ko-KR" altLang="en-US" sz="3200" b="1"/>
          </a:p>
        </p:txBody>
      </p:sp>
      <p:sp>
        <p:nvSpPr>
          <p:cNvPr id="8" name=""/>
          <p:cNvSpPr txBox="1"/>
          <p:nvPr/>
        </p:nvSpPr>
        <p:spPr>
          <a:xfrm>
            <a:off x="1151619" y="6858000"/>
            <a:ext cx="4932549" cy="106489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3200" b="1"/>
              <a:t>2026.5</a:t>
            </a:r>
            <a:endParaRPr lang="ko-KR" altLang="en-US" sz="3200" b="1"/>
          </a:p>
          <a:p>
            <a:pPr>
              <a:defRPr lang="ko-KR" altLang="en-US"/>
            </a:pPr>
            <a:r>
              <a:rPr lang="ko-KR" altLang="en-US" sz="3200" b="1"/>
              <a:t>플루톤(</a:t>
            </a:r>
            <a:r>
              <a:rPr lang="en-US" altLang="ko-KR" sz="3200" b="1"/>
              <a:t>FLUTON)</a:t>
            </a:r>
            <a:endParaRPr lang="en-US" altLang="ko-KR" sz="3200" b="1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956376" y="3825044"/>
            <a:ext cx="7594121" cy="4665638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무인자율주행 수상 청소드론</a:t>
            </a:r>
            <a:endParaRPr lang="ko-KR" altLang="en-US" sz="49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022"/>
            <a:ext cx="16256000" cy="9083956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755576" y="2528900"/>
            <a:ext cx="3024335" cy="85057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t">
            <a:spAutoFit/>
          </a:bodyPr>
          <a:p>
            <a:pPr>
              <a:defRPr lang="ko-KR" altLang="en-US"/>
            </a:pPr>
            <a:r>
              <a:rPr lang="en-US" altLang="ko-KR" sz="2500" b="1"/>
              <a:t>GPS</a:t>
            </a:r>
            <a:r>
              <a:rPr lang="ko-KR" altLang="en-US" sz="2500" b="1"/>
              <a:t> 수신이 안되는 실내 수조 스캔</a:t>
            </a:r>
            <a:endParaRPr lang="ko-KR" altLang="en-US" sz="2500" b="1"/>
          </a:p>
        </p:txBody>
      </p:sp>
      <p:sp>
        <p:nvSpPr>
          <p:cNvPr id="5" name=""/>
          <p:cNvSpPr txBox="1"/>
          <p:nvPr/>
        </p:nvSpPr>
        <p:spPr>
          <a:xfrm>
            <a:off x="683568" y="7029400"/>
            <a:ext cx="3024335" cy="1228363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p>
            <a:pPr algn="ctr">
              <a:defRPr lang="ko-KR" altLang="en-US"/>
            </a:pPr>
            <a:r>
              <a:rPr lang="en-US" altLang="ko-KR" sz="2500" b="1"/>
              <a:t>LiDAR</a:t>
            </a:r>
            <a:r>
              <a:rPr lang="ko-KR" altLang="en-US" sz="2500" b="1"/>
              <a:t> 센서를 이용한 광영스캔 및</a:t>
            </a:r>
            <a:endParaRPr lang="ko-KR" altLang="en-US" sz="2500" b="1"/>
          </a:p>
          <a:p>
            <a:pPr algn="ctr">
              <a:defRPr lang="ko-KR" altLang="en-US"/>
            </a:pPr>
            <a:r>
              <a:rPr lang="ko-KR" altLang="en-US" sz="2500" b="1"/>
              <a:t>야간 무인운영</a:t>
            </a:r>
            <a:endParaRPr lang="ko-KR" altLang="en-US" sz="2500" b="1"/>
          </a:p>
        </p:txBody>
      </p:sp>
      <p:sp>
        <p:nvSpPr>
          <p:cNvPr id="8" name=""/>
          <p:cNvSpPr txBox="1"/>
          <p:nvPr/>
        </p:nvSpPr>
        <p:spPr>
          <a:xfrm>
            <a:off x="12636896" y="7137412"/>
            <a:ext cx="3024335" cy="8534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 algn="ctr">
              <a:defRPr lang="ko-KR" altLang="en-US"/>
            </a:pPr>
            <a:r>
              <a:rPr lang="ko-KR" altLang="en-US" sz="2500" b="1"/>
              <a:t>청소드론 진수 및 인양 시 크레인 사용</a:t>
            </a:r>
            <a:endParaRPr lang="ko-KR" altLang="en-US" sz="25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5940152" y="7507605"/>
            <a:ext cx="4464496" cy="1186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ko-KR" altLang="en-US" sz="2400" b="1"/>
              <a:t>외부 </a:t>
            </a:r>
            <a:r>
              <a:rPr lang="en-US" altLang="ko-KR" sz="2400" b="1"/>
              <a:t>LTE</a:t>
            </a:r>
            <a:r>
              <a:rPr lang="ko-KR" altLang="en-US" sz="2400" b="1"/>
              <a:t>망 불가 제약 극복을 위한 </a:t>
            </a:r>
            <a:r>
              <a:rPr lang="en-US" altLang="ko-KR" sz="2400" b="1"/>
              <a:t>WIFI BaseStation </a:t>
            </a:r>
            <a:r>
              <a:rPr lang="ko-KR" altLang="en-US" sz="2400" b="1"/>
              <a:t>설치, 수조 전역 광범위 커버리지</a:t>
            </a:r>
            <a:endParaRPr lang="ko-KR" altLang="en-US" sz="24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15616" y="3429000"/>
            <a:ext cx="8712460" cy="4700061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전체 시스템의 구성</a:t>
            </a:r>
            <a:endParaRPr lang="ko-KR" altLang="en-US" sz="4900" b="1"/>
          </a:p>
        </p:txBody>
      </p:sp>
      <p:sp>
        <p:nvSpPr>
          <p:cNvPr id="5" name=""/>
          <p:cNvSpPr txBox="1"/>
          <p:nvPr/>
        </p:nvSpPr>
        <p:spPr>
          <a:xfrm>
            <a:off x="5687616" y="2046721"/>
            <a:ext cx="1476164" cy="64347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Lidar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(RPLiDAR S2L)</a:t>
            </a:r>
            <a:endParaRPr lang="en-US" altLang="ko-KR" b="1"/>
          </a:p>
        </p:txBody>
      </p:sp>
      <p:cxnSp>
        <p:nvCxnSpPr>
          <p:cNvPr id="6" name=""/>
          <p:cNvCxnSpPr>
            <a:endCxn id="5" idx="2"/>
          </p:cNvCxnSpPr>
          <p:nvPr/>
        </p:nvCxnSpPr>
        <p:spPr>
          <a:xfrm rot="5400000" flipH="1" flipV="1">
            <a:off x="5777519" y="2960840"/>
            <a:ext cx="918825" cy="377534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"/>
          <p:cNvCxnSpPr>
            <a:endCxn id="8" idx="1"/>
          </p:cNvCxnSpPr>
          <p:nvPr/>
        </p:nvCxnSpPr>
        <p:spPr>
          <a:xfrm flipV="1">
            <a:off x="6156176" y="2496598"/>
            <a:ext cx="2051720" cy="1868506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/>
          <p:cNvSpPr txBox="1"/>
          <p:nvPr/>
        </p:nvSpPr>
        <p:spPr>
          <a:xfrm>
            <a:off x="8207895" y="2175701"/>
            <a:ext cx="1872208" cy="64179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Camera</a:t>
            </a:r>
            <a:br>
              <a:rPr lang="en-US" altLang="ko-KR" b="1"/>
            </a:br>
            <a:r>
              <a:rPr lang="en-US" altLang="ko-KR" b="1"/>
              <a:t>(Logitech C930E)</a:t>
            </a:r>
            <a:endParaRPr lang="en-US" altLang="ko-KR" b="1"/>
          </a:p>
        </p:txBody>
      </p:sp>
      <p:cxnSp>
        <p:nvCxnSpPr>
          <p:cNvPr id="9" name=""/>
          <p:cNvCxnSpPr>
            <a:endCxn id="10" idx="1"/>
          </p:cNvCxnSpPr>
          <p:nvPr/>
        </p:nvCxnSpPr>
        <p:spPr>
          <a:xfrm rot="5400000" flipH="1" flipV="1">
            <a:off x="9106514" y="5479238"/>
            <a:ext cx="831564" cy="756592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"/>
          <p:cNvSpPr txBox="1"/>
          <p:nvPr/>
        </p:nvSpPr>
        <p:spPr>
          <a:xfrm>
            <a:off x="9900592" y="5121188"/>
            <a:ext cx="1152128" cy="64112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Ultrasonic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(?????)</a:t>
            </a:r>
            <a:endParaRPr lang="en-US" altLang="ko-KR" b="1"/>
          </a:p>
        </p:txBody>
      </p:sp>
      <p:cxnSp>
        <p:nvCxnSpPr>
          <p:cNvPr id="11" name=""/>
          <p:cNvCxnSpPr>
            <a:endCxn id="12" idx="1"/>
          </p:cNvCxnSpPr>
          <p:nvPr/>
        </p:nvCxnSpPr>
        <p:spPr>
          <a:xfrm flipV="1">
            <a:off x="6732240" y="3972390"/>
            <a:ext cx="1944216" cy="680746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"/>
          <p:cNvSpPr txBox="1"/>
          <p:nvPr/>
        </p:nvSpPr>
        <p:spPr>
          <a:xfrm>
            <a:off x="8676456" y="3789040"/>
            <a:ext cx="1476165" cy="3667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Wifi Antenna</a:t>
            </a:r>
            <a:endParaRPr lang="en-US" altLang="ko-KR" b="1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808804" y="2060848"/>
            <a:ext cx="1737057" cy="2012826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276856" y="3997581"/>
            <a:ext cx="3426147" cy="3103826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12888924" y="7131838"/>
            <a:ext cx="2340260" cy="638656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 lang="ko-KR" altLang="en-US"/>
            </a:pPr>
            <a:r>
              <a:rPr lang="en-US" altLang="ko-KR" b="1"/>
              <a:t>Base Control System</a:t>
            </a:r>
            <a:endParaRPr lang="en-US" altLang="ko-KR" b="1"/>
          </a:p>
          <a:p>
            <a:pPr algn="ctr">
              <a:defRPr lang="ko-KR" altLang="en-US"/>
            </a:pPr>
            <a:r>
              <a:rPr lang="en-US" altLang="ko-KR" b="1"/>
              <a:t>(QGroundControl)</a:t>
            </a:r>
            <a:endParaRPr lang="en-US" altLang="ko-KR" b="1"/>
          </a:p>
        </p:txBody>
      </p:sp>
      <p:sp>
        <p:nvSpPr>
          <p:cNvPr id="17" name=""/>
          <p:cNvSpPr txBox="1"/>
          <p:nvPr/>
        </p:nvSpPr>
        <p:spPr>
          <a:xfrm>
            <a:off x="12456876" y="2204864"/>
            <a:ext cx="2340260" cy="641206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 lang="ko-KR" altLang="en-US"/>
            </a:pPr>
            <a:r>
              <a:rPr lang="en-US" altLang="ko-KR" b="1"/>
              <a:t>WIFI Base Station</a:t>
            </a:r>
            <a:endParaRPr lang="en-US" altLang="ko-KR" b="1"/>
          </a:p>
          <a:p>
            <a:pPr algn="ctr">
              <a:defRPr lang="ko-KR" altLang="en-US"/>
            </a:pPr>
            <a:r>
              <a:rPr lang="en-US" altLang="ko-KR" b="1"/>
              <a:t>(Blueboat BaseStation)</a:t>
            </a:r>
            <a:endParaRPr lang="en-US" altLang="ko-KR" b="1"/>
          </a:p>
        </p:txBody>
      </p:sp>
      <p:cxnSp>
        <p:nvCxnSpPr>
          <p:cNvPr id="18" name=""/>
          <p:cNvCxnSpPr/>
          <p:nvPr/>
        </p:nvCxnSpPr>
        <p:spPr>
          <a:xfrm rot="16200000" flipH="1">
            <a:off x="12348180" y="4402800"/>
            <a:ext cx="1620000" cy="612000"/>
          </a:xfrm>
          <a:prstGeom prst="curvedConnector3">
            <a:avLst>
              <a:gd name="adj1" fmla="val 55119"/>
            </a:avLst>
          </a:prstGeom>
          <a:ln w="25400" algn="ctr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2788569" flipV="1">
            <a:off x="10477232" y="1830129"/>
            <a:ext cx="1227782" cy="1025328"/>
          </a:xfrm>
          <a:prstGeom prst="rect">
            <a:avLst/>
          </a:prstGeom>
        </p:spPr>
      </p:pic>
      <p:sp>
        <p:nvSpPr>
          <p:cNvPr id="21" name=""/>
          <p:cNvSpPr txBox="1"/>
          <p:nvPr/>
        </p:nvSpPr>
        <p:spPr>
          <a:xfrm>
            <a:off x="10332640" y="6858000"/>
            <a:ext cx="1152128" cy="64112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Thruster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(T500)</a:t>
            </a:r>
            <a:endParaRPr lang="en-US" altLang="ko-KR" b="1"/>
          </a:p>
        </p:txBody>
      </p:sp>
      <p:cxnSp>
        <p:nvCxnSpPr>
          <p:cNvPr id="22" name=""/>
          <p:cNvCxnSpPr>
            <a:endCxn id="21" idx="1"/>
          </p:cNvCxnSpPr>
          <p:nvPr/>
        </p:nvCxnSpPr>
        <p:spPr>
          <a:xfrm>
            <a:off x="9360532" y="7173416"/>
            <a:ext cx="972108" cy="5148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"/>
          <p:cNvSpPr txBox="1"/>
          <p:nvPr/>
        </p:nvSpPr>
        <p:spPr>
          <a:xfrm>
            <a:off x="1043607" y="8217531"/>
            <a:ext cx="4644517" cy="63881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b="1"/>
              <a:t>* 함체크기: 160</a:t>
            </a:r>
            <a:r>
              <a:rPr lang="en-US" altLang="ko-KR" b="1"/>
              <a:t>x140x55 cm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* </a:t>
            </a:r>
            <a:r>
              <a:rPr lang="ko-KR" altLang="en-US" b="1"/>
              <a:t>무게: 약 80</a:t>
            </a:r>
            <a:r>
              <a:rPr lang="en-US" altLang="ko-KR" b="1"/>
              <a:t>kg(</a:t>
            </a:r>
            <a:r>
              <a:rPr lang="ko-KR" altLang="en-US" b="1"/>
              <a:t>스컴박스 제외)</a:t>
            </a:r>
            <a:endParaRPr lang="ko-KR" altLang="en-US" b="1"/>
          </a:p>
        </p:txBody>
      </p:sp>
      <p:cxnSp>
        <p:nvCxnSpPr>
          <p:cNvPr id="25" name=""/>
          <p:cNvCxnSpPr/>
          <p:nvPr/>
        </p:nvCxnSpPr>
        <p:spPr>
          <a:xfrm rot="16200000" flipH="1" flipV="1">
            <a:off x="-414554" y="6471338"/>
            <a:ext cx="284431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"/>
          <p:cNvCxnSpPr/>
          <p:nvPr/>
        </p:nvCxnSpPr>
        <p:spPr>
          <a:xfrm>
            <a:off x="719572" y="5049180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/>
          <p:nvPr/>
        </p:nvCxnSpPr>
        <p:spPr>
          <a:xfrm>
            <a:off x="719572" y="7893496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"/>
          <p:cNvSpPr txBox="1"/>
          <p:nvPr/>
        </p:nvSpPr>
        <p:spPr>
          <a:xfrm>
            <a:off x="1007603" y="7202760"/>
            <a:ext cx="1296145" cy="3667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b="1"/>
              <a:t>5</a:t>
            </a:r>
            <a:r>
              <a:rPr lang="en-US" altLang="ko-KR" b="1"/>
              <a:t>5cm</a:t>
            </a:r>
            <a:endParaRPr lang="en-US" altLang="ko-KR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시스템의 사양</a:t>
            </a:r>
            <a:endParaRPr lang="ko-KR" altLang="en-US" sz="4900" b="1"/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1547664" y="1628800"/>
          <a:ext cx="13465496" cy="7252335"/>
        </p:xfrm>
        <a:graphic>
          <a:graphicData uri="http://schemas.openxmlformats.org/drawingml/2006/table">
            <a:tbl>
              <a:tblPr firstRow="1" bandRow="1"/>
              <a:tblGrid>
                <a:gridCol w="4239138"/>
                <a:gridCol w="5463273"/>
                <a:gridCol w="3763085"/>
              </a:tblGrid>
              <a:tr h="30426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600" b="1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항목</a:t>
                      </a:r>
                      <a:endParaRPr lang="ko-KR" altLang="ko-KR" sz="1600" b="1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719fd1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600" b="1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목표</a:t>
                      </a:r>
                      <a:endParaRPr lang="ko-KR" altLang="ko-KR" sz="1600" b="1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719fd1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600" b="1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비고</a:t>
                      </a:r>
                      <a:endParaRPr lang="ko-KR" altLang="ko-KR" sz="1600" b="1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719fd1">
                        <a:alpha val="100000"/>
                      </a:srgbClr>
                    </a:solidFill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운용 시간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9시간 이상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운항 속도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0.1 ~ 0.5m/s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스캔 가능 면적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300m × 16m 이상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운용시간에 비례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자율주행 위치 오차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±30cm 이내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장애물 감지 거리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0.5~8m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Lidar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미세 부유물 포집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10um 이상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스컴박스내 필터적용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원격 통신 거리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200m 이상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Wifi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진수 &amp; 회수 방식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크레인 고리 인양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제어앱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QGroundControl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통신방식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WIFI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카메라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FHD(1920x1080)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센서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Lidar(18M)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5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충돌방지 센서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TBD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TBD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5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스컴박스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TBD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착탈식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쓰러스터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T500(10.5 kgf) x 2EA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배터리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24V 15A x 2EA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064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크기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160x140x55cm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 sz="2200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362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중량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약 80kg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ko-KR" sz="1500">
                          <a:solidFill>
                            <a:srgbClr val="000000"/>
                          </a:solidFill>
                          <a:latin typeface="돋움"/>
                          <a:ea typeface="돋움"/>
                        </a:rPr>
                        <a:t>스컴박스 제외</a:t>
                      </a:r>
                      <a:endParaRPr lang="ko-KR" altLang="ko-KR" sz="1500">
                        <a:solidFill>
                          <a:srgbClr val="000000"/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 anchor="b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1540" y="548680"/>
            <a:ext cx="15409712" cy="8445331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575810" y="548680"/>
            <a:ext cx="9540806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수상드론 회로도</a:t>
            </a:r>
            <a:r>
              <a:rPr lang="en-US" altLang="ko-KR" sz="4900" b="1">
                <a:solidFill>
                  <a:srgbClr val="ff0000"/>
                </a:solidFill>
              </a:rPr>
              <a:t>(</a:t>
            </a:r>
            <a:r>
              <a:rPr lang="ko-KR" altLang="en-US" sz="4900" b="1">
                <a:solidFill>
                  <a:srgbClr val="ff0000"/>
                </a:solidFill>
              </a:rPr>
              <a:t>재설계 필요)</a:t>
            </a:r>
            <a:endParaRPr lang="ko-KR" altLang="en-US" sz="4900" b="1">
              <a:solidFill>
                <a:srgbClr val="ff0000"/>
              </a:solidFill>
            </a:endParaRPr>
          </a:p>
        </p:txBody>
      </p:sp>
      <p:sp>
        <p:nvSpPr>
          <p:cNvPr id="5" name=""/>
          <p:cNvSpPr txBox="1"/>
          <p:nvPr/>
        </p:nvSpPr>
        <p:spPr>
          <a:xfrm rot="16212510">
            <a:off x="965934" y="8468540"/>
            <a:ext cx="720080" cy="3687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accent1"/>
            </a:solidFill>
            <a:prstDash val="solid"/>
            <a:bevel/>
          </a:ln>
        </p:spPr>
        <p:txBody>
          <a:bodyPr vert="horz" wrap="square" lIns="91440" tIns="45720" rIns="91440" bIns="45720" anchor="t">
            <a:spAutoFit/>
          </a:bodyPr>
          <a:p>
            <a:pPr algn="ctr">
              <a:defRPr lang="ko-KR" altLang="en-US"/>
            </a:pPr>
            <a:r>
              <a:rPr lang="en-US" altLang="ko-KR" sz="1900" b="1"/>
              <a:t>T500</a:t>
            </a:r>
            <a:endParaRPr lang="en-US" altLang="ko-KR" sz="1900" b="1"/>
          </a:p>
        </p:txBody>
      </p:sp>
      <p:sp>
        <p:nvSpPr>
          <p:cNvPr id="6" name=""/>
          <p:cNvSpPr txBox="1"/>
          <p:nvPr/>
        </p:nvSpPr>
        <p:spPr>
          <a:xfrm rot="16212510">
            <a:off x="12966599" y="8465870"/>
            <a:ext cx="720080" cy="3714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accent1"/>
            </a:solidFill>
            <a:prstDash val="solid"/>
            <a:bevel/>
          </a:ln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defRPr lang="ko-KR" altLang="en-US"/>
            </a:pPr>
            <a:r>
              <a:rPr lang="en-US" altLang="ko-KR" sz="1900" b="1"/>
              <a:t>T500</a:t>
            </a:r>
            <a:endParaRPr lang="en-US" altLang="ko-KR" sz="19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97850" y="4555050"/>
            <a:ext cx="7119365" cy="3446458"/>
          </a:xfrm>
          <a:prstGeom prst="rect">
            <a:avLst/>
          </a:prstGeom>
        </p:spPr>
      </p:pic>
      <p:pic>
        <p:nvPicPr>
          <p:cNvPr id="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5596" y="4516365"/>
            <a:ext cx="7812868" cy="4277231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스컴박스 구조</a:t>
            </a:r>
            <a:endParaRPr lang="ko-KR" altLang="en-US" sz="4900" b="1"/>
          </a:p>
        </p:txBody>
      </p:sp>
      <p:sp>
        <p:nvSpPr>
          <p:cNvPr id="5" name=""/>
          <p:cNvSpPr txBox="1"/>
          <p:nvPr/>
        </p:nvSpPr>
        <p:spPr>
          <a:xfrm>
            <a:off x="1151617" y="1873761"/>
            <a:ext cx="7992384" cy="2401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 b="1"/>
              <a:t>- 스컴박스는 알루미늄/강화프라스틱 프레임구조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 내부는 10um 필터 적용, 위쪽은 오픈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 유입부와 스컴박스는 분리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스컴박스는 수상드론 뒤쪽으로 밀어넣어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하부 부력재의 부력에 의하여 타이트하게 유입부와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유입부에는 수문을 설치하여 수집한 스컴의 역배출 방지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수문은 서보모터로 제어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유입부에 임펠러를 장착하여 스컴 유입량을 높임</a:t>
            </a:r>
            <a:endParaRPr lang="ko-KR" altLang="en-US" sz="1900" b="1"/>
          </a:p>
        </p:txBody>
      </p:sp>
      <p:sp>
        <p:nvSpPr>
          <p:cNvPr id="6" name=""/>
          <p:cNvSpPr txBox="1"/>
          <p:nvPr/>
        </p:nvSpPr>
        <p:spPr>
          <a:xfrm>
            <a:off x="8028384" y="1821698"/>
            <a:ext cx="7092787" cy="2700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 b="1"/>
              <a:t>- 임펠러는 Flat turbine type 날개로 수면의 스컴을 내부로 밀어 넣는 역할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임펠러는 유입부 앞쪽 혹은 내부 게이트 뒤쪽에 설치 가능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임펠러는 수상드론의 전진에 의하여 자동으로 회전하는 방식 혹은 모터를 장착한 전동 방식 가능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 뒤쪽에는 차단벽을 설치하여 부유한 스컴은 모이고, 차단벽 아래쪽으로 물만이 자유롭게 흘러갈 수 있는 구조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배출구는 망사형태로 사이즈가 큰 부유물은 걸러내고 물이 자유롭게 배출될 수 있는 구조</a:t>
            </a:r>
            <a:endParaRPr lang="ko-KR" altLang="en-US" sz="19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함체 및 스컴박스 결합구조</a:t>
            </a:r>
            <a:endParaRPr lang="ko-KR" altLang="en-US" sz="4900" b="1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0" y="4297938"/>
            <a:ext cx="6588732" cy="3554386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276" y="5882114"/>
            <a:ext cx="1193579" cy="1664804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240852" y="6024564"/>
            <a:ext cx="2520280" cy="1369717"/>
          </a:xfrm>
          <a:prstGeom prst="rect">
            <a:avLst/>
          </a:prstGeom>
        </p:spPr>
      </p:pic>
      <p:cxnSp>
        <p:nvCxnSpPr>
          <p:cNvPr id="8" name=""/>
          <p:cNvCxnSpPr/>
          <p:nvPr/>
        </p:nvCxnSpPr>
        <p:spPr>
          <a:xfrm>
            <a:off x="3347864" y="6782214"/>
            <a:ext cx="1458162" cy="0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"/>
          <p:cNvCxnSpPr/>
          <p:nvPr/>
        </p:nvCxnSpPr>
        <p:spPr>
          <a:xfrm>
            <a:off x="11052720" y="6602194"/>
            <a:ext cx="1044116" cy="0"/>
          </a:xfrm>
          <a:prstGeom prst="straightConnector1">
            <a:avLst/>
          </a:prstGeom>
          <a:ln w="25400" algn="ctr">
            <a:solidFill>
              <a:srgbClr val="ff66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"/>
          <p:cNvSpPr txBox="1"/>
          <p:nvPr/>
        </p:nvSpPr>
        <p:spPr>
          <a:xfrm>
            <a:off x="3347864" y="6852072"/>
            <a:ext cx="1476164" cy="367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b="1"/>
              <a:t>장착 &amp; 고정</a:t>
            </a:r>
            <a:endParaRPr lang="ko-KR" altLang="en-US" b="1"/>
          </a:p>
        </p:txBody>
      </p:sp>
      <p:sp>
        <p:nvSpPr>
          <p:cNvPr id="11" name=""/>
          <p:cNvSpPr txBox="1"/>
          <p:nvPr/>
        </p:nvSpPr>
        <p:spPr>
          <a:xfrm>
            <a:off x="11016716" y="6674202"/>
            <a:ext cx="1116124" cy="367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b="1"/>
              <a:t>탈부착</a:t>
            </a:r>
            <a:endParaRPr lang="ko-KR" altLang="en-US" b="1"/>
          </a:p>
        </p:txBody>
      </p:sp>
      <p:sp>
        <p:nvSpPr>
          <p:cNvPr id="12" name=""/>
          <p:cNvSpPr txBox="1"/>
          <p:nvPr/>
        </p:nvSpPr>
        <p:spPr>
          <a:xfrm>
            <a:off x="2375756" y="5010842"/>
            <a:ext cx="1476164" cy="36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b="1"/>
              <a:t>게이트(수문)</a:t>
            </a:r>
            <a:endParaRPr lang="ko-KR" altLang="en-US" b="1"/>
          </a:p>
        </p:txBody>
      </p:sp>
      <p:cxnSp>
        <p:nvCxnSpPr>
          <p:cNvPr id="13" name=""/>
          <p:cNvCxnSpPr>
            <a:stCxn id="12" idx="2"/>
          </p:cNvCxnSpPr>
          <p:nvPr/>
        </p:nvCxnSpPr>
        <p:spPr>
          <a:xfrm rot="16200000" flipH="1">
            <a:off x="2870811" y="5621085"/>
            <a:ext cx="504056" cy="18002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"/>
          <p:cNvSpPr txBox="1"/>
          <p:nvPr/>
        </p:nvSpPr>
        <p:spPr>
          <a:xfrm>
            <a:off x="1151616" y="1952836"/>
            <a:ext cx="7992384" cy="1827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 b="1"/>
              <a:t>- 스컴박스 내부는 10um 필터 적용, 위쪽은 오픈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 유입부와 스컴박스는 분리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스컴박스는 수상드론 뒤쪽으로 밀어넣어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하부 부력재의 부력에 의하여 타이트하게 유입부와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유입부에는 수문을 설치하여 수집한 스컴의 역배출 방지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수문은 서보모터로 제어</a:t>
            </a:r>
            <a:endParaRPr lang="ko-KR" altLang="en-US" sz="19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8460432" y="1736812"/>
            <a:ext cx="7416824" cy="1186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en-US" altLang="ko-KR" sz="2400" b="1"/>
              <a:t>LiDAR</a:t>
            </a:r>
            <a:r>
              <a:rPr lang="ko-KR" altLang="en-US" sz="2400" b="1"/>
              <a:t> 맵핑을 활용하고 수조 가로 범위를 스캔할 수 있도록 하여 </a:t>
            </a:r>
            <a:r>
              <a:rPr lang="en-US" altLang="ko-KR" sz="2400" b="1"/>
              <a:t>SLAM </a:t>
            </a:r>
            <a:r>
              <a:rPr lang="ko-KR" altLang="en-US" sz="2400" b="1"/>
              <a:t>알고리즘 적용</a:t>
            </a:r>
            <a:endParaRPr lang="ko-KR" altLang="en-US" sz="2400" b="1"/>
          </a:p>
          <a:p>
            <a:pPr>
              <a:defRPr lang="ko-KR" altLang="en-US"/>
            </a:pPr>
            <a:endParaRPr lang="ko-KR" altLang="en-US" sz="2400" b="1"/>
          </a:p>
        </p:txBody>
      </p:sp>
      <p:sp>
        <p:nvSpPr>
          <p:cNvPr id="4" name=""/>
          <p:cNvSpPr txBox="1"/>
          <p:nvPr/>
        </p:nvSpPr>
        <p:spPr>
          <a:xfrm>
            <a:off x="8496436" y="3611880"/>
            <a:ext cx="7416824" cy="1186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ko-KR" altLang="en-US" sz="2400" b="1"/>
              <a:t>초음파 센서를 활용하여 무인자율 운항 중 벽면을 인식하고 충돌을 방지 보완</a:t>
            </a:r>
            <a:endParaRPr lang="ko-KR" altLang="en-US" sz="2400" b="1"/>
          </a:p>
          <a:p>
            <a:pPr>
              <a:defRPr lang="ko-KR" altLang="en-US"/>
            </a:pPr>
            <a:endParaRPr lang="ko-KR" altLang="en-US" sz="2400" b="1"/>
          </a:p>
        </p:txBody>
      </p:sp>
      <p:sp>
        <p:nvSpPr>
          <p:cNvPr id="5" name=""/>
          <p:cNvSpPr txBox="1"/>
          <p:nvPr/>
        </p:nvSpPr>
        <p:spPr>
          <a:xfrm>
            <a:off x="8532440" y="5481228"/>
            <a:ext cx="7416824" cy="1186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ko-KR" altLang="en-US" sz="2400" b="1"/>
              <a:t>최초에는 자동 스캔 기능을 이용하여 맵을 작성하며 경로 스캔은 스캔한 맵과 기 설정된 알고리즘에 따라 수행</a:t>
            </a:r>
            <a:endParaRPr lang="ko-KR" altLang="en-US" sz="2400" b="1"/>
          </a:p>
        </p:txBody>
      </p:sp>
      <p:sp>
        <p:nvSpPr>
          <p:cNvPr id="6" name=""/>
          <p:cNvSpPr txBox="1"/>
          <p:nvPr/>
        </p:nvSpPr>
        <p:spPr>
          <a:xfrm>
            <a:off x="8532440" y="7317432"/>
            <a:ext cx="7416824" cy="155829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en-US" altLang="ko-KR" sz="2400" b="1"/>
              <a:t>AprilTag</a:t>
            </a:r>
            <a:r>
              <a:rPr lang="ko-KR" altLang="en-US" sz="2400" b="1"/>
              <a:t>를 활용하여 수조의 홈(</a:t>
            </a:r>
            <a:r>
              <a:rPr lang="en-US" altLang="ko-KR" sz="2400" b="1"/>
              <a:t>Home)</a:t>
            </a:r>
            <a:r>
              <a:rPr lang="ko-KR" altLang="en-US" sz="2400" b="1"/>
              <a:t> 및 코터 위치를 정밀하게 표시. 이를 기반으로 한 자동 복귀(</a:t>
            </a:r>
            <a:r>
              <a:rPr lang="en-US" altLang="ko-KR" sz="2400" b="1"/>
              <a:t>Home Return)</a:t>
            </a:r>
            <a:r>
              <a:rPr lang="ko-KR" altLang="en-US" sz="2400" b="1"/>
              <a:t> 및 정밀 도킹 기능 수행</a:t>
            </a:r>
            <a:endParaRPr lang="ko-KR" altLang="en-US" sz="2400" b="1"/>
          </a:p>
          <a:p>
            <a:pPr>
              <a:defRPr lang="ko-KR" altLang="en-US"/>
            </a:pPr>
            <a:endParaRPr lang="ko-KR" altLang="en-US" sz="24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4778"/>
            <a:ext cx="16256000" cy="9074444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295636" y="1748289"/>
            <a:ext cx="11917324" cy="550785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sz="2300" b="1"/>
              <a:t>6. 개발비</a:t>
            </a:r>
            <a:endParaRPr lang="en-US" altLang="ko-KR" sz="2300" b="1"/>
          </a:p>
          <a:p>
            <a:pPr>
              <a:defRPr lang="ko-KR" altLang="en-US"/>
            </a:pPr>
            <a:r>
              <a:rPr lang="ko-KR" altLang="en-US" sz="2300" b="1"/>
              <a:t> - </a:t>
            </a:r>
            <a:r>
              <a:rPr lang="en-US" altLang="ko-KR" sz="2300" b="1"/>
              <a:t>재료비 27백만원 + 인건비 48백만원 = 75백만원</a:t>
            </a:r>
            <a:endParaRPr lang="en-US" altLang="ko-KR" sz="2300" b="1"/>
          </a:p>
          <a:p>
            <a:pPr>
              <a:defRPr lang="ko-KR" altLang="en-US"/>
            </a:pPr>
            <a:endParaRPr lang="en-US" altLang="ko-KR" sz="500" b="1"/>
          </a:p>
          <a:p>
            <a:pPr>
              <a:defRPr lang="ko-KR" altLang="en-US"/>
            </a:pPr>
            <a:r>
              <a:rPr lang="en-US" altLang="ko-KR" sz="2300" b="1"/>
              <a:t>6.1. 재료비(합계: 27,000,000원)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개발용 BlueBoat 1세트: 8,600,000원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수상드론 전자부품 구성품(T500x2, ESCx2, Power Switch, 등): 5,000,000원(확인필요)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함체제작비: 6,000,000원(견적서 입수예정)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스컴박스 제작비: 3,000,000원(견적서 입수예정)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RPLiDAR S2L: 450,000원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배터리(24V 30A, 4A 차저포함): 560,000원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기타부품: 3,</a:t>
            </a:r>
            <a:r>
              <a:rPr lang="ko-KR" altLang="en-US" sz="2300" b="1"/>
              <a:t>39</a:t>
            </a:r>
            <a:r>
              <a:rPr lang="en-US" altLang="ko-KR" sz="2300" b="1"/>
              <a:t>0,000원</a:t>
            </a:r>
            <a:endParaRPr lang="en-US" altLang="ko-KR" sz="2300" b="1"/>
          </a:p>
          <a:p>
            <a:pPr>
              <a:defRPr lang="ko-KR" altLang="en-US"/>
            </a:pPr>
            <a:endParaRPr lang="en-US" altLang="ko-KR" sz="500" b="1"/>
          </a:p>
          <a:p>
            <a:pPr>
              <a:defRPr lang="ko-KR" altLang="en-US"/>
            </a:pPr>
            <a:r>
              <a:rPr lang="en-US" altLang="ko-KR" sz="2300" b="1"/>
              <a:t>6.2. 하드웨어 개발비(3 M/M x 6</a:t>
            </a:r>
            <a:r>
              <a:rPr lang="ko-KR" altLang="en-US" sz="2300" b="1"/>
              <a:t>백만원 = 18백만원</a:t>
            </a:r>
            <a:r>
              <a:rPr lang="en-US" altLang="ko-KR" sz="2300" b="1"/>
              <a:t>)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BlueBoat 조립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수상드론 회로 설계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수상드론 내부 구조설계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수상드론 + 회로물 + 스컴박스 조립</a:t>
            </a:r>
            <a:endParaRPr lang="en-US" altLang="ko-KR" sz="2300" b="1"/>
          </a:p>
        </p:txBody>
      </p:sp>
      <p:sp>
        <p:nvSpPr>
          <p:cNvPr id="5" name=""/>
          <p:cNvSpPr txBox="1"/>
          <p:nvPr/>
        </p:nvSpPr>
        <p:spPr>
          <a:xfrm>
            <a:off x="8138334" y="5401550"/>
            <a:ext cx="7342878" cy="1843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300" b="1"/>
              <a:t>6.3. 소프트웨어 개발비(5 M/M</a:t>
            </a:r>
            <a:r>
              <a:rPr lang="ko-KR" altLang="en-US" sz="2300" b="1"/>
              <a:t> </a:t>
            </a:r>
            <a:r>
              <a:rPr lang="en-US" altLang="ko-KR" sz="2300" b="1"/>
              <a:t>x 6</a:t>
            </a:r>
            <a:r>
              <a:rPr lang="ko-KR" altLang="en-US" sz="2300" b="1"/>
              <a:t>백만원 = 30백만원</a:t>
            </a:r>
            <a:r>
              <a:rPr lang="en-US" altLang="ko-KR" sz="2300" b="1"/>
              <a:t>)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BlueBoat 환경구축 &amp; 운영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실함체 환경구축 &amp; 운영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임펠러 및 게이트 제어 기능 개발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- 자율운항 알고리즘 개발</a:t>
            </a:r>
            <a:endParaRPr lang="en-US" altLang="ko-KR" sz="23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</ep:Words>
  <ep:PresentationFormat>On-screen Show (4:3)</ep:PresentationFormat>
  <ep:Paragraphs>1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Hancom Office Hanshow 2014</ep:Application>
  <ep:AppVersion>0900.0000.01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tonyk</cp:lastModifiedBy>
  <dcterms:modified xsi:type="dcterms:W3CDTF">2026-05-10T10:13:06.623</dcterms:modified>
  <cp:revision>56</cp:revision>
</cp:coreProperties>
</file>